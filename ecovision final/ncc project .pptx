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handoutMasterIdLst>
    <p:handoutMasterId r:id="rId17"/>
  </p:handoutMasterIdLst>
  <p:sldIdLst>
    <p:sldId id="1087" r:id="rId3"/>
    <p:sldId id="1533" r:id="rId4"/>
    <p:sldId id="1584" r:id="rId5"/>
    <p:sldId id="1545" r:id="rId6"/>
    <p:sldId id="1544" r:id="rId7"/>
    <p:sldId id="1582" r:id="rId8"/>
    <p:sldId id="1554" r:id="rId9"/>
    <p:sldId id="1557" r:id="rId10"/>
    <p:sldId id="1555" r:id="rId11"/>
    <p:sldId id="1581" r:id="rId12"/>
    <p:sldId id="1585" r:id="rId13"/>
    <p:sldId id="1586" r:id="rId14"/>
    <p:sldId id="1532" r:id="rId15"/>
  </p:sldIdLst>
  <p:sldSz cx="12192000" cy="6858000"/>
  <p:notesSz cx="6797675" cy="9925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40" userDrawn="1">
          <p15:clr>
            <a:srgbClr val="A4A3A4"/>
          </p15:clr>
        </p15:guide>
        <p15:guide id="2" pos="3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A3A3"/>
    <a:srgbClr val="3333FF"/>
    <a:srgbClr val="FFFFFF"/>
    <a:srgbClr val="2F2A96"/>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BAD715-2833-4542-A45C-31396153A0FD}" v="6" dt="2026-03-04T03:36:38.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50" autoAdjust="0"/>
    <p:restoredTop sz="96831" autoAdjust="0"/>
  </p:normalViewPr>
  <p:slideViewPr>
    <p:cSldViewPr showGuides="1">
      <p:cViewPr>
        <p:scale>
          <a:sx n="75" d="100"/>
          <a:sy n="75" d="100"/>
        </p:scale>
        <p:origin x="917" y="413"/>
      </p:cViewPr>
      <p:guideLst>
        <p:guide orient="horz" pos="2040"/>
        <p:guide pos="3915"/>
      </p:guideLst>
    </p:cSldViewPr>
  </p:slideViewPr>
  <p:outlineViewPr>
    <p:cViewPr>
      <p:scale>
        <a:sx n="33" d="100"/>
        <a:sy n="33" d="100"/>
      </p:scale>
      <p:origin x="0" y="12252"/>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Kesh" userId="ed74deb48ca0bde9" providerId="LiveId" clId="{B3827105-709C-44F2-8098-557B6A0FFBE4}"/>
    <pc:docChg chg="undo custSel addSld delSld modSld sldOrd">
      <pc:chgData name="Rishi Kesh" userId="ed74deb48ca0bde9" providerId="LiveId" clId="{B3827105-709C-44F2-8098-557B6A0FFBE4}" dt="2026-03-04T03:44:55.569" v="1639" actId="20577"/>
      <pc:docMkLst>
        <pc:docMk/>
      </pc:docMkLst>
      <pc:sldChg chg="modSp mod">
        <pc:chgData name="Rishi Kesh" userId="ed74deb48ca0bde9" providerId="LiveId" clId="{B3827105-709C-44F2-8098-557B6A0FFBE4}" dt="2026-03-04T03:15:02.859" v="1027" actId="20577"/>
        <pc:sldMkLst>
          <pc:docMk/>
          <pc:sldMk cId="0" sldId="1087"/>
        </pc:sldMkLst>
        <pc:spChg chg="mod">
          <ac:chgData name="Rishi Kesh" userId="ed74deb48ca0bde9" providerId="LiveId" clId="{B3827105-709C-44F2-8098-557B6A0FFBE4}" dt="2026-03-04T03:15:02.859" v="1027" actId="20577"/>
          <ac:spMkLst>
            <pc:docMk/>
            <pc:sldMk cId="0" sldId="1087"/>
            <ac:spMk id="11" creationId="{00000000-0000-0000-0000-000000000000}"/>
          </ac:spMkLst>
        </pc:spChg>
        <pc:spChg chg="mod">
          <ac:chgData name="Rishi Kesh" userId="ed74deb48ca0bde9" providerId="LiveId" clId="{B3827105-709C-44F2-8098-557B6A0FFBE4}" dt="2026-03-04T03:14:26.725" v="945" actId="20577"/>
          <ac:spMkLst>
            <pc:docMk/>
            <pc:sldMk cId="0" sldId="1087"/>
            <ac:spMk id="15" creationId="{00000000-0000-0000-0000-000000000000}"/>
          </ac:spMkLst>
        </pc:spChg>
      </pc:sldChg>
      <pc:sldChg chg="modSp mod">
        <pc:chgData name="Rishi Kesh" userId="ed74deb48ca0bde9" providerId="LiveId" clId="{B3827105-709C-44F2-8098-557B6A0FFBE4}" dt="2026-03-04T03:03:15.179" v="79" actId="27636"/>
        <pc:sldMkLst>
          <pc:docMk/>
          <pc:sldMk cId="0" sldId="1532"/>
        </pc:sldMkLst>
        <pc:spChg chg="mod">
          <ac:chgData name="Rishi Kesh" userId="ed74deb48ca0bde9" providerId="LiveId" clId="{B3827105-709C-44F2-8098-557B6A0FFBE4}" dt="2026-03-04T03:03:15.179" v="79" actId="27636"/>
          <ac:spMkLst>
            <pc:docMk/>
            <pc:sldMk cId="0" sldId="1532"/>
            <ac:spMk id="3" creationId="{00000000-0000-0000-0000-000000000000}"/>
          </ac:spMkLst>
        </pc:spChg>
      </pc:sldChg>
      <pc:sldChg chg="modSp add del mod">
        <pc:chgData name="Rishi Kesh" userId="ed74deb48ca0bde9" providerId="LiveId" clId="{B3827105-709C-44F2-8098-557B6A0FFBE4}" dt="2026-03-04T03:44:55.569" v="1639" actId="20577"/>
        <pc:sldMkLst>
          <pc:docMk/>
          <pc:sldMk cId="0" sldId="1533"/>
        </pc:sldMkLst>
        <pc:spChg chg="mod">
          <ac:chgData name="Rishi Kesh" userId="ed74deb48ca0bde9" providerId="LiveId" clId="{B3827105-709C-44F2-8098-557B6A0FFBE4}" dt="2026-03-04T03:44:55.569" v="1639" actId="20577"/>
          <ac:spMkLst>
            <pc:docMk/>
            <pc:sldMk cId="0" sldId="1533"/>
            <ac:spMk id="4" creationId="{00000000-0000-0000-0000-000000000000}"/>
          </ac:spMkLst>
        </pc:spChg>
      </pc:sldChg>
      <pc:sldChg chg="add del">
        <pc:chgData name="Rishi Kesh" userId="ed74deb48ca0bde9" providerId="LiveId" clId="{B3827105-709C-44F2-8098-557B6A0FFBE4}" dt="2026-03-04T03:01:16.703" v="51" actId="47"/>
        <pc:sldMkLst>
          <pc:docMk/>
          <pc:sldMk cId="0" sldId="1535"/>
        </pc:sldMkLst>
      </pc:sldChg>
      <pc:sldChg chg="add del">
        <pc:chgData name="Rishi Kesh" userId="ed74deb48ca0bde9" providerId="LiveId" clId="{B3827105-709C-44F2-8098-557B6A0FFBE4}" dt="2026-03-04T03:01:25.010" v="54" actId="47"/>
        <pc:sldMkLst>
          <pc:docMk/>
          <pc:sldMk cId="925787446" sldId="1537"/>
        </pc:sldMkLst>
      </pc:sldChg>
      <pc:sldChg chg="add del">
        <pc:chgData name="Rishi Kesh" userId="ed74deb48ca0bde9" providerId="LiveId" clId="{B3827105-709C-44F2-8098-557B6A0FFBE4}" dt="2026-03-04T03:01:52.692" v="69" actId="47"/>
        <pc:sldMkLst>
          <pc:docMk/>
          <pc:sldMk cId="3740172569" sldId="1546"/>
        </pc:sldMkLst>
      </pc:sldChg>
      <pc:sldChg chg="add del">
        <pc:chgData name="Rishi Kesh" userId="ed74deb48ca0bde9" providerId="LiveId" clId="{B3827105-709C-44F2-8098-557B6A0FFBE4}" dt="2026-03-04T03:01:30.442" v="56" actId="47"/>
        <pc:sldMkLst>
          <pc:docMk/>
          <pc:sldMk cId="2390965510" sldId="1547"/>
        </pc:sldMkLst>
      </pc:sldChg>
      <pc:sldChg chg="add del">
        <pc:chgData name="Rishi Kesh" userId="ed74deb48ca0bde9" providerId="LiveId" clId="{B3827105-709C-44F2-8098-557B6A0FFBE4}" dt="2026-03-04T03:01:36.881" v="58" actId="47"/>
        <pc:sldMkLst>
          <pc:docMk/>
          <pc:sldMk cId="1780668459" sldId="1548"/>
        </pc:sldMkLst>
      </pc:sldChg>
      <pc:sldChg chg="add del">
        <pc:chgData name="Rishi Kesh" userId="ed74deb48ca0bde9" providerId="LiveId" clId="{B3827105-709C-44F2-8098-557B6A0FFBE4}" dt="2026-03-04T03:01:38.919" v="59" actId="47"/>
        <pc:sldMkLst>
          <pc:docMk/>
          <pc:sldMk cId="3618282109" sldId="1549"/>
        </pc:sldMkLst>
      </pc:sldChg>
      <pc:sldChg chg="add del">
        <pc:chgData name="Rishi Kesh" userId="ed74deb48ca0bde9" providerId="LiveId" clId="{B3827105-709C-44F2-8098-557B6A0FFBE4}" dt="2026-03-04T03:01:46.484" v="63" actId="47"/>
        <pc:sldMkLst>
          <pc:docMk/>
          <pc:sldMk cId="1428033068" sldId="1550"/>
        </pc:sldMkLst>
      </pc:sldChg>
      <pc:sldChg chg="add del">
        <pc:chgData name="Rishi Kesh" userId="ed74deb48ca0bde9" providerId="LiveId" clId="{B3827105-709C-44F2-8098-557B6A0FFBE4}" dt="2026-03-04T03:01:47.264" v="64" actId="47"/>
        <pc:sldMkLst>
          <pc:docMk/>
          <pc:sldMk cId="4159427502" sldId="1551"/>
        </pc:sldMkLst>
      </pc:sldChg>
      <pc:sldChg chg="add del">
        <pc:chgData name="Rishi Kesh" userId="ed74deb48ca0bde9" providerId="LiveId" clId="{B3827105-709C-44F2-8098-557B6A0FFBE4}" dt="2026-03-04T03:01:42.621" v="61" actId="47"/>
        <pc:sldMkLst>
          <pc:docMk/>
          <pc:sldMk cId="1384458769" sldId="1552"/>
        </pc:sldMkLst>
      </pc:sldChg>
      <pc:sldChg chg="add del">
        <pc:chgData name="Rishi Kesh" userId="ed74deb48ca0bde9" providerId="LiveId" clId="{B3827105-709C-44F2-8098-557B6A0FFBE4}" dt="2026-03-04T03:01:45.619" v="62" actId="47"/>
        <pc:sldMkLst>
          <pc:docMk/>
          <pc:sldMk cId="1085959707" sldId="1553"/>
        </pc:sldMkLst>
      </pc:sldChg>
      <pc:sldChg chg="add del">
        <pc:chgData name="Rishi Kesh" userId="ed74deb48ca0bde9" providerId="LiveId" clId="{B3827105-709C-44F2-8098-557B6A0FFBE4}" dt="2026-03-04T03:01:27.279" v="55" actId="47"/>
        <pc:sldMkLst>
          <pc:docMk/>
          <pc:sldMk cId="561409091" sldId="1558"/>
        </pc:sldMkLst>
      </pc:sldChg>
      <pc:sldChg chg="add del">
        <pc:chgData name="Rishi Kesh" userId="ed74deb48ca0bde9" providerId="LiveId" clId="{B3827105-709C-44F2-8098-557B6A0FFBE4}" dt="2026-03-04T03:01:20.221" v="53" actId="47"/>
        <pc:sldMkLst>
          <pc:docMk/>
          <pc:sldMk cId="1124416702" sldId="1559"/>
        </pc:sldMkLst>
      </pc:sldChg>
      <pc:sldChg chg="add del">
        <pc:chgData name="Rishi Kesh" userId="ed74deb48ca0bde9" providerId="LiveId" clId="{B3827105-709C-44F2-8098-557B6A0FFBE4}" dt="2026-03-04T03:01:18.652" v="52" actId="47"/>
        <pc:sldMkLst>
          <pc:docMk/>
          <pc:sldMk cId="1328743002" sldId="1560"/>
        </pc:sldMkLst>
      </pc:sldChg>
      <pc:sldChg chg="add del">
        <pc:chgData name="Rishi Kesh" userId="ed74deb48ca0bde9" providerId="LiveId" clId="{B3827105-709C-44F2-8098-557B6A0FFBE4}" dt="2026-03-04T03:01:34.126" v="57" actId="47"/>
        <pc:sldMkLst>
          <pc:docMk/>
          <pc:sldMk cId="3628443908" sldId="1564"/>
        </pc:sldMkLst>
      </pc:sldChg>
      <pc:sldChg chg="add del">
        <pc:chgData name="Rishi Kesh" userId="ed74deb48ca0bde9" providerId="LiveId" clId="{B3827105-709C-44F2-8098-557B6A0FFBE4}" dt="2026-03-04T03:01:48.140" v="65" actId="47"/>
        <pc:sldMkLst>
          <pc:docMk/>
          <pc:sldMk cId="1377178830" sldId="1565"/>
        </pc:sldMkLst>
      </pc:sldChg>
      <pc:sldChg chg="modSp add del mod">
        <pc:chgData name="Rishi Kesh" userId="ed74deb48ca0bde9" providerId="LiveId" clId="{B3827105-709C-44F2-8098-557B6A0FFBE4}" dt="2026-03-04T03:01:49.404" v="67" actId="47"/>
        <pc:sldMkLst>
          <pc:docMk/>
          <pc:sldMk cId="1990830885" sldId="1567"/>
        </pc:sldMkLst>
        <pc:spChg chg="mod">
          <ac:chgData name="Rishi Kesh" userId="ed74deb48ca0bde9" providerId="LiveId" clId="{B3827105-709C-44F2-8098-557B6A0FFBE4}" dt="2026-03-04T03:01:11.108" v="50" actId="27636"/>
          <ac:spMkLst>
            <pc:docMk/>
            <pc:sldMk cId="1990830885" sldId="1567"/>
            <ac:spMk id="3" creationId="{00000000-0000-0000-0000-000000000000}"/>
          </ac:spMkLst>
        </pc:spChg>
      </pc:sldChg>
      <pc:sldChg chg="add del">
        <pc:chgData name="Rishi Kesh" userId="ed74deb48ca0bde9" providerId="LiveId" clId="{B3827105-709C-44F2-8098-557B6A0FFBE4}" dt="2026-03-04T03:01:51.839" v="68" actId="47"/>
        <pc:sldMkLst>
          <pc:docMk/>
          <pc:sldMk cId="2215275809" sldId="1571"/>
        </pc:sldMkLst>
      </pc:sldChg>
      <pc:sldChg chg="add del">
        <pc:chgData name="Rishi Kesh" userId="ed74deb48ca0bde9" providerId="LiveId" clId="{B3827105-709C-44F2-8098-557B6A0FFBE4}" dt="2026-03-04T03:01:48.959" v="66" actId="47"/>
        <pc:sldMkLst>
          <pc:docMk/>
          <pc:sldMk cId="1375460676" sldId="1573"/>
        </pc:sldMkLst>
      </pc:sldChg>
      <pc:sldChg chg="add del">
        <pc:chgData name="Rishi Kesh" userId="ed74deb48ca0bde9" providerId="LiveId" clId="{B3827105-709C-44F2-8098-557B6A0FFBE4}" dt="2026-03-04T03:01:39.785" v="60" actId="47"/>
        <pc:sldMkLst>
          <pc:docMk/>
          <pc:sldMk cId="1671856864" sldId="1580"/>
        </pc:sldMkLst>
      </pc:sldChg>
      <pc:sldChg chg="new del">
        <pc:chgData name="Rishi Kesh" userId="ed74deb48ca0bde9" providerId="LiveId" clId="{B3827105-709C-44F2-8098-557B6A0FFBE4}" dt="2026-03-04T03:03:30.369" v="80" actId="47"/>
        <pc:sldMkLst>
          <pc:docMk/>
          <pc:sldMk cId="3863647700" sldId="1583"/>
        </pc:sldMkLst>
      </pc:sldChg>
      <pc:sldChg chg="new del">
        <pc:chgData name="Rishi Kesh" userId="ed74deb48ca0bde9" providerId="LiveId" clId="{B3827105-709C-44F2-8098-557B6A0FFBE4}" dt="2026-03-04T03:02:55.685" v="74" actId="47"/>
        <pc:sldMkLst>
          <pc:docMk/>
          <pc:sldMk cId="3993237928" sldId="1583"/>
        </pc:sldMkLst>
      </pc:sldChg>
      <pc:sldChg chg="modSp new mod ord">
        <pc:chgData name="Rishi Kesh" userId="ed74deb48ca0bde9" providerId="LiveId" clId="{B3827105-709C-44F2-8098-557B6A0FFBE4}" dt="2026-03-04T03:18:53.242" v="1061"/>
        <pc:sldMkLst>
          <pc:docMk/>
          <pc:sldMk cId="1388351792" sldId="1584"/>
        </pc:sldMkLst>
        <pc:spChg chg="mod">
          <ac:chgData name="Rishi Kesh" userId="ed74deb48ca0bde9" providerId="LiveId" clId="{B3827105-709C-44F2-8098-557B6A0FFBE4}" dt="2026-03-04T03:04:44.579" v="220" actId="20577"/>
          <ac:spMkLst>
            <pc:docMk/>
            <pc:sldMk cId="1388351792" sldId="1584"/>
            <ac:spMk id="2" creationId="{2DAE5D3D-C589-A7E2-437D-7536E8A21667}"/>
          </ac:spMkLst>
        </pc:spChg>
        <pc:spChg chg="mod">
          <ac:chgData name="Rishi Kesh" userId="ed74deb48ca0bde9" providerId="LiveId" clId="{B3827105-709C-44F2-8098-557B6A0FFBE4}" dt="2026-03-04T03:17:35.361" v="1055" actId="948"/>
          <ac:spMkLst>
            <pc:docMk/>
            <pc:sldMk cId="1388351792" sldId="1584"/>
            <ac:spMk id="3" creationId="{C36F1363-6BDA-FCBC-66D7-4CDD3054D21A}"/>
          </ac:spMkLst>
        </pc:spChg>
      </pc:sldChg>
      <pc:sldChg chg="modSp new mod ord">
        <pc:chgData name="Rishi Kesh" userId="ed74deb48ca0bde9" providerId="LiveId" clId="{B3827105-709C-44F2-8098-557B6A0FFBE4}" dt="2026-03-04T03:39:25.611" v="1592"/>
        <pc:sldMkLst>
          <pc:docMk/>
          <pc:sldMk cId="4130946431" sldId="1585"/>
        </pc:sldMkLst>
        <pc:spChg chg="mod">
          <ac:chgData name="Rishi Kesh" userId="ed74deb48ca0bde9" providerId="LiveId" clId="{B3827105-709C-44F2-8098-557B6A0FFBE4}" dt="2026-03-04T03:13:34.600" v="885" actId="5793"/>
          <ac:spMkLst>
            <pc:docMk/>
            <pc:sldMk cId="4130946431" sldId="1585"/>
            <ac:spMk id="2" creationId="{3D8304C1-BA57-0CA3-0764-6E3E89956BB0}"/>
          </ac:spMkLst>
        </pc:spChg>
        <pc:spChg chg="mod">
          <ac:chgData name="Rishi Kesh" userId="ed74deb48ca0bde9" providerId="LiveId" clId="{B3827105-709C-44F2-8098-557B6A0FFBE4}" dt="2026-03-04T03:17:15.448" v="1054" actId="20577"/>
          <ac:spMkLst>
            <pc:docMk/>
            <pc:sldMk cId="4130946431" sldId="1585"/>
            <ac:spMk id="3" creationId="{DDDEB4DC-2D9F-798D-9C28-AEF49AB227AD}"/>
          </ac:spMkLst>
        </pc:spChg>
      </pc:sldChg>
      <pc:sldChg chg="modSp new mod">
        <pc:chgData name="Rishi Kesh" userId="ed74deb48ca0bde9" providerId="LiveId" clId="{B3827105-709C-44F2-8098-557B6A0FFBE4}" dt="2026-03-04T03:39:06.913" v="1590" actId="12"/>
        <pc:sldMkLst>
          <pc:docMk/>
          <pc:sldMk cId="437475462" sldId="1586"/>
        </pc:sldMkLst>
        <pc:spChg chg="mod">
          <ac:chgData name="Rishi Kesh" userId="ed74deb48ca0bde9" providerId="LiveId" clId="{B3827105-709C-44F2-8098-557B6A0FFBE4}" dt="2026-03-04T03:36:51.141" v="1169" actId="20577"/>
          <ac:spMkLst>
            <pc:docMk/>
            <pc:sldMk cId="437475462" sldId="1586"/>
            <ac:spMk id="2" creationId="{21AFA4CD-A078-9F64-02A5-E15B582FA0FE}"/>
          </ac:spMkLst>
        </pc:spChg>
        <pc:spChg chg="mod">
          <ac:chgData name="Rishi Kesh" userId="ed74deb48ca0bde9" providerId="LiveId" clId="{B3827105-709C-44F2-8098-557B6A0FFBE4}" dt="2026-03-04T03:39:06.913" v="1590" actId="12"/>
          <ac:spMkLst>
            <pc:docMk/>
            <pc:sldMk cId="437475462" sldId="1586"/>
            <ac:spMk id="3" creationId="{EA7C546B-A1E7-2666-FD64-7E6B4A2BD5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25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50443" y="0"/>
            <a:ext cx="2945659" cy="496253"/>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6ACCF03-A5CB-47D0-9AB4-25B70ACB6065}" type="datetimeFigureOut">
              <a:rPr lang="en-US"/>
              <a:pPr>
                <a:defRPr/>
              </a:pPr>
              <a:t>3/4/2026</a:t>
            </a:fld>
            <a:endParaRPr lang="en-US"/>
          </a:p>
        </p:txBody>
      </p:sp>
      <p:sp>
        <p:nvSpPr>
          <p:cNvPr id="4" name="Footer Placeholder 3"/>
          <p:cNvSpPr>
            <a:spLocks noGrp="1"/>
          </p:cNvSpPr>
          <p:nvPr>
            <p:ph type="ftr" sz="quarter" idx="2"/>
          </p:nvPr>
        </p:nvSpPr>
        <p:spPr>
          <a:xfrm>
            <a:off x="0" y="9427075"/>
            <a:ext cx="2945659" cy="496253"/>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50443" y="9427075"/>
            <a:ext cx="2945659" cy="496253"/>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E224FC2D-499D-4977-AD6E-DFE5C44AFDBA}" type="slidenum">
              <a:rPr lang="en-US"/>
              <a:pPr>
                <a:defRPr/>
              </a:pPr>
              <a:t>‹#›</a:t>
            </a:fld>
            <a:endParaRPr lang="en-US"/>
          </a:p>
        </p:txBody>
      </p:sp>
    </p:spTree>
    <p:extLst>
      <p:ext uri="{BB962C8B-B14F-4D97-AF65-F5344CB8AC3E}">
        <p14:creationId xmlns:p14="http://schemas.microsoft.com/office/powerpoint/2010/main" val="131145261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25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50443" y="0"/>
            <a:ext cx="2945659" cy="496253"/>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AF7606F-A96F-45CA-A7F5-C475331DE1F0}" type="datetimeFigureOut">
              <a:rPr lang="en-US"/>
              <a:pPr>
                <a:defRPr/>
              </a:pPr>
              <a:t>3/4/2026</a:t>
            </a:fld>
            <a:endParaRPr lang="en-US"/>
          </a:p>
        </p:txBody>
      </p:sp>
      <p:sp>
        <p:nvSpPr>
          <p:cNvPr id="4" name="Slide Image Placeholder 3"/>
          <p:cNvSpPr>
            <a:spLocks noGrp="1" noRot="1" noChangeAspect="1"/>
          </p:cNvSpPr>
          <p:nvPr>
            <p:ph type="sldImg" idx="2"/>
          </p:nvPr>
        </p:nvSpPr>
        <p:spPr>
          <a:xfrm>
            <a:off x="92075" y="744538"/>
            <a:ext cx="6613525" cy="3721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79768" y="4714399"/>
            <a:ext cx="5438140" cy="446627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7075"/>
            <a:ext cx="2945659" cy="496253"/>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50443" y="9427075"/>
            <a:ext cx="2945659" cy="496253"/>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1F6E767B-C300-4C47-9C50-417379AE6BB8}" type="slidenum">
              <a:rPr lang="en-US"/>
              <a:pPr>
                <a:defRPr/>
              </a:pPr>
              <a:t>‹#›</a:t>
            </a:fld>
            <a:endParaRPr lang="en-US"/>
          </a:p>
        </p:txBody>
      </p:sp>
    </p:spTree>
    <p:extLst>
      <p:ext uri="{BB962C8B-B14F-4D97-AF65-F5344CB8AC3E}">
        <p14:creationId xmlns:p14="http://schemas.microsoft.com/office/powerpoint/2010/main" val="371642547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4538"/>
            <a:ext cx="6613525" cy="3721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B8E15B0-26B5-498B-9E65-AE969828653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5DBC8E-BCA1-40B6-9A00-F48178FC3A3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cxnSp>
        <p:nvCxnSpPr>
          <p:cNvPr id="2" name="Straight Connector 1"/>
          <p:cNvCxnSpPr/>
          <p:nvPr userDrawn="1"/>
        </p:nvCxnSpPr>
        <p:spPr>
          <a:xfrm flipH="1">
            <a:off x="914400" y="6492875"/>
            <a:ext cx="1068228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userDrawn="1"/>
        </p:nvSpPr>
        <p:spPr>
          <a:xfrm>
            <a:off x="0" y="4"/>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4" name="Freeform 6"/>
          <p:cNvSpPr>
            <a:spLocks noChangeAspect="1"/>
          </p:cNvSpPr>
          <p:nvPr userDrawn="1"/>
        </p:nvSpPr>
        <p:spPr bwMode="auto">
          <a:xfrm>
            <a:off x="3"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5" name="Freeform 14"/>
          <p:cNvSpPr/>
          <p:nvPr userDrawn="1"/>
        </p:nvSpPr>
        <p:spPr bwMode="auto">
          <a:xfrm>
            <a:off x="574676" y="190500"/>
            <a:ext cx="679451"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
        <p:nvSpPr>
          <p:cNvPr id="6" name="Freeform 6"/>
          <p:cNvSpPr>
            <a:spLocks noChangeAspect="1"/>
          </p:cNvSpPr>
          <p:nvPr userDrawn="1"/>
        </p:nvSpPr>
        <p:spPr bwMode="auto">
          <a:xfrm>
            <a:off x="11596690" y="6483350"/>
            <a:ext cx="615951"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961790-A6FA-4346-8134-328253751AB5}" type="slidenum">
              <a:rPr lang="en-US" smtClean="0"/>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5798" y="0"/>
            <a:ext cx="10515600" cy="1325563"/>
          </a:xfrm>
        </p:spPr>
        <p:txBody>
          <a:bodyPr>
            <a:normAutofit/>
          </a:bodyPr>
          <a:lstStyle>
            <a:lvl1pPr>
              <a:defRPr sz="3500" b="1">
                <a:solidFill>
                  <a:srgbClr val="C00000"/>
                </a:solidFill>
                <a:latin typeface="Museo 300" panose="02000000000000000000" pitchFamily="50" charset="0"/>
              </a:defRPr>
            </a:lvl1pPr>
          </a:lstStyle>
          <a:p>
            <a:r>
              <a:rPr lang="en-US" dirty="0"/>
              <a:t>Click to edit Master title style</a:t>
            </a:r>
          </a:p>
        </p:txBody>
      </p:sp>
      <p:sp>
        <p:nvSpPr>
          <p:cNvPr id="3" name="Content Placeholder 2"/>
          <p:cNvSpPr>
            <a:spLocks noGrp="1"/>
          </p:cNvSpPr>
          <p:nvPr>
            <p:ph idx="1"/>
          </p:nvPr>
        </p:nvSpPr>
        <p:spPr>
          <a:xfrm>
            <a:off x="553961" y="1373409"/>
            <a:ext cx="10515600" cy="4351338"/>
          </a:xfrm>
        </p:spPr>
        <p:txBody>
          <a:bodyPr>
            <a:normAutofit/>
          </a:bodyPr>
          <a:lstStyle>
            <a:lvl1pPr>
              <a:defRPr sz="2000">
                <a:solidFill>
                  <a:schemeClr val="tx1">
                    <a:lumMod val="95000"/>
                    <a:lumOff val="5000"/>
                  </a:schemeClr>
                </a:solidFill>
                <a:latin typeface="Museo 300" panose="02000000000000000000" pitchFamily="50" charset="0"/>
              </a:defRPr>
            </a:lvl1pPr>
            <a:lvl2pPr>
              <a:defRPr sz="2000">
                <a:solidFill>
                  <a:schemeClr val="tx1">
                    <a:lumMod val="95000"/>
                    <a:lumOff val="5000"/>
                  </a:schemeClr>
                </a:solidFill>
                <a:latin typeface="Museo 300" panose="02000000000000000000" pitchFamily="50" charset="0"/>
              </a:defRPr>
            </a:lvl2pPr>
            <a:lvl3pPr>
              <a:defRPr sz="2000">
                <a:solidFill>
                  <a:schemeClr val="tx1">
                    <a:lumMod val="95000"/>
                    <a:lumOff val="5000"/>
                  </a:schemeClr>
                </a:solidFill>
                <a:latin typeface="Museo 300" panose="02000000000000000000" pitchFamily="50" charset="0"/>
              </a:defRPr>
            </a:lvl3pPr>
            <a:lvl4pPr>
              <a:defRPr sz="2000">
                <a:solidFill>
                  <a:schemeClr val="tx1">
                    <a:lumMod val="95000"/>
                    <a:lumOff val="5000"/>
                  </a:schemeClr>
                </a:solidFill>
                <a:latin typeface="Museo 300" panose="02000000000000000000" pitchFamily="50" charset="0"/>
              </a:defRPr>
            </a:lvl4pPr>
            <a:lvl5pPr>
              <a:defRPr sz="2000">
                <a:solidFill>
                  <a:schemeClr val="tx1">
                    <a:lumMod val="95000"/>
                    <a:lumOff val="5000"/>
                  </a:schemeClr>
                </a:solidFill>
                <a:latin typeface="Museo 300" panose="02000000000000000000" pitchFamily="50"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7" name="Subtitle 2"/>
          <p:cNvSpPr txBox="1">
            <a:spLocks noChangeArrowheads="1"/>
          </p:cNvSpPr>
          <p:nvPr userDrawn="1"/>
        </p:nvSpPr>
        <p:spPr bwMode="auto">
          <a:xfrm>
            <a:off x="1790590" y="6421413"/>
            <a:ext cx="9563210" cy="18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sp>
        <p:nvSpPr>
          <p:cNvPr id="8" name="Slide Number Placeholder 5"/>
          <p:cNvSpPr txBox="1"/>
          <p:nvPr userDrawn="1"/>
        </p:nvSpPr>
        <p:spPr>
          <a:xfrm>
            <a:off x="11069561" y="5598643"/>
            <a:ext cx="541867" cy="365125"/>
          </a:xfrm>
          <a:prstGeom prst="rect">
            <a:avLst/>
          </a:prstGeom>
        </p:spPr>
        <p:txBody>
          <a:bodyPr/>
          <a:lstStyle>
            <a:lvl1pPr defTabSz="913130">
              <a:defRPr>
                <a:solidFill>
                  <a:schemeClr val="tx1"/>
                </a:solidFill>
                <a:latin typeface="Arial" panose="020B0604020202020204" pitchFamily="34" charset="0"/>
              </a:defRPr>
            </a:lvl1pPr>
            <a:lvl2pPr marL="742950" indent="-285750" defTabSz="913130">
              <a:defRPr>
                <a:solidFill>
                  <a:schemeClr val="tx1"/>
                </a:solidFill>
                <a:latin typeface="Arial" panose="020B0604020202020204" pitchFamily="34" charset="0"/>
              </a:defRPr>
            </a:lvl2pPr>
            <a:lvl3pPr marL="1143000" indent="-228600" defTabSz="913130">
              <a:defRPr>
                <a:solidFill>
                  <a:schemeClr val="tx1"/>
                </a:solidFill>
                <a:latin typeface="Arial" panose="020B0604020202020204" pitchFamily="34" charset="0"/>
              </a:defRPr>
            </a:lvl3pPr>
            <a:lvl4pPr marL="1600200" indent="-228600" defTabSz="913130">
              <a:defRPr>
                <a:solidFill>
                  <a:schemeClr val="tx1"/>
                </a:solidFill>
                <a:latin typeface="Arial" panose="020B0604020202020204" pitchFamily="34" charset="0"/>
              </a:defRPr>
            </a:lvl4pPr>
            <a:lvl5pPr marL="2057400" indent="-228600" defTabSz="913130">
              <a:defRPr>
                <a:solidFill>
                  <a:schemeClr val="tx1"/>
                </a:solidFill>
                <a:latin typeface="Arial" panose="020B0604020202020204" pitchFamily="34" charset="0"/>
              </a:defRPr>
            </a:lvl5pPr>
            <a:lvl6pPr marL="2514600" indent="-228600" defTabSz="913130" eaLnBrk="0" fontAlgn="base" hangingPunct="0">
              <a:spcBef>
                <a:spcPct val="0"/>
              </a:spcBef>
              <a:spcAft>
                <a:spcPct val="0"/>
              </a:spcAft>
              <a:defRPr>
                <a:solidFill>
                  <a:schemeClr val="tx1"/>
                </a:solidFill>
                <a:latin typeface="Arial" panose="020B0604020202020204" pitchFamily="34" charset="0"/>
              </a:defRPr>
            </a:lvl6pPr>
            <a:lvl7pPr marL="2971800" indent="-228600" defTabSz="913130" eaLnBrk="0" fontAlgn="base" hangingPunct="0">
              <a:spcBef>
                <a:spcPct val="0"/>
              </a:spcBef>
              <a:spcAft>
                <a:spcPct val="0"/>
              </a:spcAft>
              <a:defRPr>
                <a:solidFill>
                  <a:schemeClr val="tx1"/>
                </a:solidFill>
                <a:latin typeface="Arial" panose="020B0604020202020204" pitchFamily="34" charset="0"/>
              </a:defRPr>
            </a:lvl7pPr>
            <a:lvl8pPr marL="3429000" indent="-228600" defTabSz="913130" eaLnBrk="0" fontAlgn="base" hangingPunct="0">
              <a:spcBef>
                <a:spcPct val="0"/>
              </a:spcBef>
              <a:spcAft>
                <a:spcPct val="0"/>
              </a:spcAft>
              <a:defRPr>
                <a:solidFill>
                  <a:schemeClr val="tx1"/>
                </a:solidFill>
                <a:latin typeface="Arial" panose="020B0604020202020204" pitchFamily="34" charset="0"/>
              </a:defRPr>
            </a:lvl8pPr>
            <a:lvl9pPr marL="3886200" indent="-228600" defTabSz="91313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9E723E7A-D6C9-43B1-9EAA-7B8D055CBC94}" type="slidenum">
              <a:rPr lang="en-US" altLang="en-US" sz="1300">
                <a:solidFill>
                  <a:schemeClr val="bg1"/>
                </a:solidFill>
                <a:latin typeface="Calibri" panose="020F0502020204030204" pitchFamily="34" charset="0"/>
              </a:rPr>
              <a:pPr algn="ctr" eaLnBrk="1" hangingPunct="1"/>
              <a:t>‹#›</a:t>
            </a:fld>
            <a:endParaRPr lang="en-US" altLang="en-US" sz="1300">
              <a:solidFill>
                <a:schemeClr val="bg1"/>
              </a:solidFill>
              <a:latin typeface="Calibri" panose="020F0502020204030204" pitchFamily="34" charset="0"/>
            </a:endParaRPr>
          </a:p>
        </p:txBody>
      </p:sp>
      <p:sp>
        <p:nvSpPr>
          <p:cNvPr id="9" name="Freeform 6"/>
          <p:cNvSpPr>
            <a:spLocks noChangeAspect="1"/>
          </p:cNvSpPr>
          <p:nvPr userDrawn="1"/>
        </p:nvSpPr>
        <p:spPr bwMode="auto">
          <a:xfrm>
            <a:off x="11370733" y="642462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cxnSp>
        <p:nvCxnSpPr>
          <p:cNvPr id="10" name="Straight Connector 9"/>
          <p:cNvCxnSpPr/>
          <p:nvPr userDrawn="1"/>
        </p:nvCxnSpPr>
        <p:spPr>
          <a:xfrm flipH="1" flipV="1">
            <a:off x="1794825" y="6400803"/>
            <a:ext cx="9652635" cy="2855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 name="Freeform 12"/>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4" name="Picture 13"/>
          <p:cNvPicPr>
            <a:picLocks noChangeAspect="1"/>
          </p:cNvPicPr>
          <p:nvPr userDrawn="1"/>
        </p:nvPicPr>
        <p:blipFill>
          <a:blip r:embed="rId2"/>
          <a:stretch>
            <a:fillRect/>
          </a:stretch>
        </p:blipFill>
        <p:spPr>
          <a:xfrm>
            <a:off x="2" y="6099171"/>
            <a:ext cx="1765796" cy="710487"/>
          </a:xfrm>
          <a:prstGeom prst="rect">
            <a:avLst/>
          </a:prstGeom>
        </p:spPr>
      </p:pic>
      <p:sp>
        <p:nvSpPr>
          <p:cNvPr id="6" name="Slide Number Placeholder 5"/>
          <p:cNvSpPr>
            <a:spLocks noGrp="1"/>
          </p:cNvSpPr>
          <p:nvPr>
            <p:ph type="sldNum" sz="quarter" idx="12"/>
          </p:nvPr>
        </p:nvSpPr>
        <p:spPr>
          <a:xfrm>
            <a:off x="9038166" y="6441651"/>
            <a:ext cx="2743200" cy="365125"/>
          </a:xfrm>
        </p:spPr>
        <p:txBody>
          <a:bodyPr/>
          <a:lstStyle>
            <a:lvl1pPr>
              <a:defRPr>
                <a:solidFill>
                  <a:srgbClr val="FFFFFF"/>
                </a:solidFill>
              </a:defRPr>
            </a:lvl1pPr>
          </a:lstStyle>
          <a:p>
            <a:pPr>
              <a:defRPr/>
            </a:pPr>
            <a:fld id="{7567225B-3001-4770-81AD-EA67E82D7225}" type="slidenum">
              <a:rPr lang="en-US" smtClean="0"/>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C95E66-549C-45F3-8760-BF16C91FE33F}" type="slidenum">
              <a:rPr lang="en-US" smtClean="0"/>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0AFBA8-1D03-4536-9D17-6487E477CBB8}" type="slidenum">
              <a:rPr lang="en-US" smtClean="0"/>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
        <p:nvSpPr>
          <p:cNvPr id="10" name="Freeform 6"/>
          <p:cNvSpPr>
            <a:spLocks noChangeAspect="1"/>
          </p:cNvSpPr>
          <p:nvPr userDrawn="1"/>
        </p:nvSpPr>
        <p:spPr bwMode="auto">
          <a:xfrm>
            <a:off x="11297845" y="6363588"/>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1" name="Rectangle 10"/>
          <p:cNvSpPr/>
          <p:nvPr userDrawn="1"/>
        </p:nvSpPr>
        <p:spPr>
          <a:xfrm>
            <a:off x="1988235" y="6427116"/>
            <a:ext cx="9278423" cy="430887"/>
          </a:xfrm>
          <a:prstGeom prst="rect">
            <a:avLst/>
          </a:prstGeom>
        </p:spPr>
        <p:txBody>
          <a:bodyPr wrap="square">
            <a:spAutoFit/>
          </a:bodyPr>
          <a:lstStyle/>
          <a:p>
            <a:r>
              <a:rPr lang="en-IN" sz="1050" b="1" dirty="0">
                <a:solidFill>
                  <a:srgbClr val="C00000"/>
                </a:solidFill>
                <a:latin typeface="Museo 300"/>
              </a:rPr>
              <a:t>An Autonomous Institution ,Affiliated to </a:t>
            </a:r>
            <a:r>
              <a:rPr lang="en-IN" sz="1050" b="1" dirty="0" err="1">
                <a:solidFill>
                  <a:srgbClr val="C00000"/>
                </a:solidFill>
                <a:latin typeface="Museo 300"/>
              </a:rPr>
              <a:t>Visvesvaraya</a:t>
            </a:r>
            <a:r>
              <a:rPr lang="en-IN" sz="1050" b="1" dirty="0">
                <a:solidFill>
                  <a:srgbClr val="C00000"/>
                </a:solidFill>
                <a:latin typeface="Museo 300"/>
              </a:rPr>
              <a:t> Technological University, Belagavi. Approved By AICTE, New Delhi. Recognized by UGC with 2(f) &amp; 12(B) status. Accredited by NBA and NAAC.</a:t>
            </a:r>
          </a:p>
        </p:txBody>
      </p:sp>
      <p:cxnSp>
        <p:nvCxnSpPr>
          <p:cNvPr id="12" name="Straight Connector 11"/>
          <p:cNvCxnSpPr/>
          <p:nvPr userDrawn="1"/>
        </p:nvCxnSpPr>
        <p:spPr>
          <a:xfrm flipH="1" flipV="1">
            <a:off x="2133603" y="6372247"/>
            <a:ext cx="8737599" cy="25846"/>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5"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6" name="Picture 15"/>
          <p:cNvPicPr>
            <a:picLocks noChangeAspect="1"/>
          </p:cNvPicPr>
          <p:nvPr userDrawn="1"/>
        </p:nvPicPr>
        <p:blipFill>
          <a:blip r:embed="rId2"/>
          <a:stretch>
            <a:fillRect/>
          </a:stretch>
        </p:blipFill>
        <p:spPr>
          <a:xfrm>
            <a:off x="61421" y="6126163"/>
            <a:ext cx="1698704" cy="68349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AA31B365-2786-4F1C-8EDA-6FD2B746B06E}" type="slidenum">
              <a:rPr lang="en-US" smtClean="0"/>
              <a:pPr>
                <a:defRPr/>
              </a:pPr>
              <a:t>‹#›</a:t>
            </a:fld>
            <a:endParaRPr lang="en-US"/>
          </a:p>
        </p:txBody>
      </p:sp>
      <p:pic>
        <p:nvPicPr>
          <p:cNvPr id="6" name="Picture 5"/>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92040" y="5918200"/>
            <a:ext cx="2407920" cy="876300"/>
          </a:xfrm>
          <a:prstGeom prst="rect">
            <a:avLst/>
          </a:prstGeom>
          <a:noFill/>
          <a:ln>
            <a:noFill/>
          </a:ln>
        </p:spPr>
      </p:pic>
      <p:sp>
        <p:nvSpPr>
          <p:cNvPr id="7" name="Rectangle 6"/>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8"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9"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A6FD02F-D3CD-4E4F-800F-75D2C3ECA6E5}" type="slidenum">
              <a:rPr lang="en-US" smtClean="0"/>
              <a:pPr>
                <a:defRPr/>
              </a:pPr>
              <a:t>‹#›</a:t>
            </a:fld>
            <a:endParaRPr lang="en-US" dirty="0"/>
          </a:p>
        </p:txBody>
      </p:sp>
      <p:cxnSp>
        <p:nvCxnSpPr>
          <p:cNvPr id="5" name="Straight Connector 4"/>
          <p:cNvCxnSpPr/>
          <p:nvPr userDrawn="1"/>
        </p:nvCxnSpPr>
        <p:spPr>
          <a:xfrm flipH="1">
            <a:off x="2244878" y="6400800"/>
            <a:ext cx="862632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1988235" y="6400800"/>
            <a:ext cx="9278423" cy="400110"/>
          </a:xfrm>
          <a:prstGeom prst="rect">
            <a:avLst/>
          </a:prstGeom>
        </p:spPr>
        <p:txBody>
          <a:bodyPr wrap="square">
            <a:spAutoFit/>
          </a:bodyPr>
          <a:lstStyle/>
          <a:p>
            <a:r>
              <a:rPr lang="en-IN" sz="1000" b="1" dirty="0">
                <a:solidFill>
                  <a:srgbClr val="C00000"/>
                </a:solidFill>
                <a:latin typeface="Museo 300"/>
              </a:rPr>
              <a:t>An Autonomous Institution ,Affiliated to </a:t>
            </a:r>
            <a:r>
              <a:rPr lang="en-IN" sz="1000" b="1" dirty="0" err="1">
                <a:solidFill>
                  <a:srgbClr val="C00000"/>
                </a:solidFill>
                <a:latin typeface="Museo 300"/>
              </a:rPr>
              <a:t>Visvesvaraya</a:t>
            </a:r>
            <a:r>
              <a:rPr lang="en-IN" sz="1000" b="1" dirty="0">
                <a:solidFill>
                  <a:srgbClr val="C00000"/>
                </a:solidFill>
                <a:latin typeface="Museo 300"/>
              </a:rPr>
              <a:t> Technological University, Belagavi. Approved By AICTE, New Delhi. Recognized by UGC with 2(f) &amp; 12(B) status. Accredited by NBA and NAAC.</a:t>
            </a:r>
          </a:p>
        </p:txBody>
      </p:sp>
      <p:sp>
        <p:nvSpPr>
          <p:cNvPr id="7" name="Freeform 6"/>
          <p:cNvSpPr>
            <a:spLocks noChangeAspect="1"/>
          </p:cNvSpPr>
          <p:nvPr userDrawn="1"/>
        </p:nvSpPr>
        <p:spPr bwMode="auto">
          <a:xfrm>
            <a:off x="11348781" y="6400800"/>
            <a:ext cx="821267"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8" name="Rectangle 7"/>
          <p:cNvSpPr/>
          <p:nvPr userDrawn="1"/>
        </p:nvSpPr>
        <p:spPr>
          <a:xfrm>
            <a:off x="0" y="1"/>
            <a:ext cx="12192000" cy="50006"/>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9" name="Freeform 6"/>
          <p:cNvSpPr>
            <a:spLocks noChangeAspect="1"/>
          </p:cNvSpPr>
          <p:nvPr userDrawn="1"/>
        </p:nvSpPr>
        <p:spPr bwMode="auto">
          <a:xfrm>
            <a:off x="2" y="190500"/>
            <a:ext cx="1039284"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0" name="Freeform 14"/>
          <p:cNvSpPr/>
          <p:nvPr userDrawn="1"/>
        </p:nvSpPr>
        <p:spPr bwMode="auto">
          <a:xfrm>
            <a:off x="766235" y="190500"/>
            <a:ext cx="905933"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dirty="0">
              <a:latin typeface="+mn-lt"/>
            </a:endParaRPr>
          </a:p>
        </p:txBody>
      </p:sp>
      <p:pic>
        <p:nvPicPr>
          <p:cNvPr id="11" name="Picture 10"/>
          <p:cNvPicPr>
            <a:picLocks noChangeAspect="1"/>
          </p:cNvPicPr>
          <p:nvPr userDrawn="1"/>
        </p:nvPicPr>
        <p:blipFill>
          <a:blip r:embed="rId2"/>
          <a:stretch>
            <a:fillRect/>
          </a:stretch>
        </p:blipFill>
        <p:spPr>
          <a:xfrm>
            <a:off x="53313" y="6085431"/>
            <a:ext cx="1744061" cy="701742"/>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D75708D-340D-43AA-B254-1DB4180647C9}" type="slidenum">
              <a:rPr lang="en-US" smtClean="0"/>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C8C3591-FF6B-435A-AE90-3407BB231590}" type="slidenum">
              <a:rPr lang="en-US" smtClean="0"/>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77BD7C0-F0D3-4E33-A2A5-81F6DA404926}" type="slidenum">
              <a:rPr lang="en-US" smtClean="0"/>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8897BF3-1834-4A3C-9AA3-D53EBE05A21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1C53C67-9027-4435-B66D-757D18D7790B}"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2"/>
          <p:cNvSpPr txBox="1">
            <a:spLocks noChangeArrowheads="1"/>
          </p:cNvSpPr>
          <p:nvPr/>
        </p:nvSpPr>
        <p:spPr bwMode="auto">
          <a:xfrm>
            <a:off x="3278949" y="1061442"/>
            <a:ext cx="512206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defRPr>
            </a:lvl1pPr>
            <a:lvl2pPr marL="742950" indent="-285750">
              <a:defRPr sz="2400">
                <a:solidFill>
                  <a:schemeClr val="tx1"/>
                </a:solidFill>
                <a:latin typeface="Calibri" panose="020F0502020204030204" pitchFamily="34" charset="0"/>
              </a:defRPr>
            </a:lvl2pPr>
            <a:lvl3pPr>
              <a:defRPr sz="20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defRPr sz="2000">
                <a:solidFill>
                  <a:schemeClr val="tx1"/>
                </a:solidFill>
                <a:latin typeface="Calibri" panose="020F0502020204030204" pitchFamily="34" charset="0"/>
              </a:defRPr>
            </a:lvl6pPr>
            <a:lvl7pPr eaLnBrk="0" fontAlgn="base" hangingPunct="0">
              <a:spcAft>
                <a:spcPct val="0"/>
              </a:spcAft>
              <a:defRPr sz="2000">
                <a:solidFill>
                  <a:schemeClr val="tx1"/>
                </a:solidFill>
                <a:latin typeface="Calibri" panose="020F0502020204030204" pitchFamily="34" charset="0"/>
              </a:defRPr>
            </a:lvl7pPr>
            <a:lvl8pPr eaLnBrk="0" fontAlgn="base" hangingPunct="0">
              <a:spcAft>
                <a:spcPct val="0"/>
              </a:spcAft>
              <a:defRPr sz="2000">
                <a:solidFill>
                  <a:schemeClr val="tx1"/>
                </a:solidFill>
                <a:latin typeface="Calibri" panose="020F0502020204030204" pitchFamily="34" charset="0"/>
              </a:defRPr>
            </a:lvl8pPr>
            <a:lvl9pPr eaLnBrk="0" fontAlgn="base" hangingPunct="0">
              <a:spcAft>
                <a:spcPct val="0"/>
              </a:spcAft>
              <a:defRPr sz="2000">
                <a:solidFill>
                  <a:schemeClr val="tx1"/>
                </a:solidFill>
                <a:latin typeface="Calibri" panose="020F0502020204030204" pitchFamily="34" charset="0"/>
              </a:defRPr>
            </a:lvl9pPr>
          </a:lstStyle>
          <a:p>
            <a:pPr defTabSz="685800" eaLnBrk="1" fontAlgn="auto" hangingPunct="1">
              <a:spcBef>
                <a:spcPts val="0"/>
              </a:spcBef>
              <a:spcAft>
                <a:spcPts val="0"/>
              </a:spcAft>
            </a:pPr>
            <a:endParaRPr lang="en-US" altLang="en-US" sz="1350">
              <a:solidFill>
                <a:prstClr val="black"/>
              </a:solidFill>
            </a:endParaRPr>
          </a:p>
        </p:txBody>
      </p:sp>
      <p:sp>
        <p:nvSpPr>
          <p:cNvPr id="7" name="Subtitle 2"/>
          <p:cNvSpPr txBox="1">
            <a:spLocks noChangeArrowheads="1"/>
          </p:cNvSpPr>
          <p:nvPr/>
        </p:nvSpPr>
        <p:spPr bwMode="auto">
          <a:xfrm>
            <a:off x="1324347" y="6476999"/>
            <a:ext cx="10181853" cy="35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685800" eaLnBrk="1" fontAlgn="auto" hangingPunct="1">
              <a:spcBef>
                <a:spcPts val="0"/>
              </a:spcBef>
              <a:spcAft>
                <a:spcPts val="0"/>
              </a:spcAft>
            </a:pPr>
            <a:r>
              <a:rPr lang="en-IN" sz="1050" b="1" dirty="0">
                <a:solidFill>
                  <a:srgbClr val="C00000"/>
                </a:solidFill>
                <a:latin typeface="Museo 300"/>
              </a:rPr>
              <a:t>An Autonomous Institution ,Affiliated to Visvesvaraya Technological University, Belagavi. Approved By AICTE, New Delhi. Recognized by UGC with 2(f) &amp; 12(B) status. Accredited by NBA and NAAC.</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8469" y="-685800"/>
            <a:ext cx="5653293" cy="2460980"/>
          </a:xfrm>
          <a:prstGeom prst="rect">
            <a:avLst/>
          </a:prstGeom>
        </p:spPr>
      </p:pic>
      <p:sp>
        <p:nvSpPr>
          <p:cNvPr id="14" name="Google Shape;151;p27"/>
          <p:cNvSpPr/>
          <p:nvPr/>
        </p:nvSpPr>
        <p:spPr>
          <a:xfrm>
            <a:off x="4194527" y="1373934"/>
            <a:ext cx="4042606" cy="1172233"/>
          </a:xfrm>
          <a:custGeom>
            <a:avLst/>
            <a:gdLst/>
            <a:ahLst/>
            <a:cxnLst/>
            <a:rect l="l" t="t" r="r" b="b"/>
            <a:pathLst>
              <a:path w="4583" h="727" extrusionOk="0">
                <a:moveTo>
                  <a:pt x="0" y="0"/>
                </a:moveTo>
                <a:lnTo>
                  <a:pt x="0" y="727"/>
                </a:lnTo>
                <a:lnTo>
                  <a:pt x="4583" y="727"/>
                </a:lnTo>
                <a:lnTo>
                  <a:pt x="4028" y="0"/>
                </a:lnTo>
                <a:lnTo>
                  <a:pt x="0" y="0"/>
                </a:lnTo>
                <a:close/>
              </a:path>
            </a:pathLst>
          </a:custGeom>
          <a:solidFill>
            <a:srgbClr val="F18B17">
              <a:alpha val="84705"/>
            </a:srgbClr>
          </a:solidFill>
          <a:ln>
            <a:noFill/>
          </a:ln>
        </p:spPr>
        <p:txBody>
          <a:bodyPr spcFirstLastPara="1" wrap="square" lIns="59400" tIns="29681" rIns="59400" bIns="29681" anchor="t" anchorCtr="0">
            <a:noAutofit/>
          </a:bodyPr>
          <a:lstStyle/>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An Autonomous Institute</a:t>
            </a:r>
            <a:endParaRPr sz="1400" dirty="0">
              <a:solidFill>
                <a:prstClr val="black"/>
              </a:solidFill>
              <a:latin typeface="Museo 300" panose="02000000000000000000" pitchFamily="50" charset="0"/>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Affiliated to VTU, Belagavi,</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Approved by AICTE, New Delhi,</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Recognized by UGC with 2(f) &amp; 12(B)</a:t>
            </a:r>
            <a:endParaRPr sz="1400" b="1" dirty="0">
              <a:solidFill>
                <a:srgbClr val="E7E6E6"/>
              </a:solidFill>
              <a:latin typeface="Museo 300" panose="02000000000000000000" pitchFamily="50" charset="0"/>
              <a:sym typeface="Arial" panose="020B0604020202020204"/>
            </a:endParaRPr>
          </a:p>
          <a:p>
            <a:pPr algn="ctr" defTabSz="685800" eaLnBrk="1" fontAlgn="auto" hangingPunct="1">
              <a:spcBef>
                <a:spcPts val="0"/>
              </a:spcBef>
              <a:spcAft>
                <a:spcPts val="0"/>
              </a:spcAft>
            </a:pPr>
            <a:r>
              <a:rPr lang="en-GB" sz="1400" b="1" dirty="0">
                <a:solidFill>
                  <a:srgbClr val="E7E6E6"/>
                </a:solidFill>
                <a:latin typeface="Museo 300" panose="02000000000000000000" pitchFamily="50" charset="0"/>
                <a:sym typeface="Arial" panose="020B0604020202020204"/>
              </a:rPr>
              <a:t>Accredited by NBA &amp; NAAC</a:t>
            </a:r>
            <a:endParaRPr sz="1400" dirty="0">
              <a:solidFill>
                <a:prstClr val="black"/>
              </a:solidFill>
              <a:latin typeface="Museo 300" panose="02000000000000000000" pitchFamily="50" charset="0"/>
            </a:endParaRPr>
          </a:p>
        </p:txBody>
      </p:sp>
      <p:sp>
        <p:nvSpPr>
          <p:cNvPr id="15" name="Google Shape;149;p27"/>
          <p:cNvSpPr/>
          <p:nvPr/>
        </p:nvSpPr>
        <p:spPr>
          <a:xfrm>
            <a:off x="-19050" y="2574742"/>
            <a:ext cx="12192000" cy="2387874"/>
          </a:xfrm>
          <a:custGeom>
            <a:avLst/>
            <a:gdLst/>
            <a:ahLst/>
            <a:cxnLst/>
            <a:rect l="l" t="t" r="r" b="b"/>
            <a:pathLst>
              <a:path w="4583" h="727" extrusionOk="0">
                <a:moveTo>
                  <a:pt x="0" y="0"/>
                </a:moveTo>
                <a:lnTo>
                  <a:pt x="0" y="727"/>
                </a:lnTo>
                <a:lnTo>
                  <a:pt x="4583" y="727"/>
                </a:lnTo>
                <a:lnTo>
                  <a:pt x="4028" y="0"/>
                </a:lnTo>
                <a:lnTo>
                  <a:pt x="0" y="0"/>
                </a:lnTo>
                <a:close/>
              </a:path>
            </a:pathLst>
          </a:custGeom>
          <a:solidFill>
            <a:srgbClr val="F18B17">
              <a:alpha val="84705"/>
            </a:srgbClr>
          </a:solidFill>
          <a:ln>
            <a:noFill/>
          </a:ln>
        </p:spPr>
        <p:txBody>
          <a:bodyPr spcFirstLastPara="1" wrap="square" lIns="59400" tIns="29681" rIns="59400" bIns="29681" anchor="t" anchorCtr="0">
            <a:noAutofit/>
          </a:bodyPr>
          <a:lstStyle/>
          <a:p>
            <a:pPr algn="ctr">
              <a:lnSpc>
                <a:spcPct val="107000"/>
              </a:lnSpc>
              <a:spcAft>
                <a:spcPts val="800"/>
              </a:spcAft>
            </a:pPr>
            <a:r>
              <a:rPr lang="en-US" sz="2400" dirty="0">
                <a:latin typeface="Times New Roman" panose="02020603050405020304" pitchFamily="18" charset="0"/>
                <a:cs typeface="Times New Roman" panose="02020603050405020304" pitchFamily="18" charset="0"/>
              </a:rPr>
              <a:t>ECOVISION – AN AI POWERED WASTE DETECTION SYSTEM</a:t>
            </a:r>
          </a:p>
          <a:p>
            <a:pPr>
              <a:lnSpc>
                <a:spcPct val="107000"/>
              </a:lnSpc>
              <a:spcAft>
                <a:spcPts val="800"/>
              </a:spcAft>
            </a:pPr>
            <a:r>
              <a:rPr lang="en-US" altLang="en-IN" sz="2000" b="1" dirty="0">
                <a:solidFill>
                  <a:schemeClr val="bg1"/>
                </a:solidFill>
                <a:ea typeface="SimSun" panose="02010600030101010101" pitchFamily="2" charset="-122"/>
              </a:rPr>
              <a:t>  Ananya Kamath s -1MJ23IS006</a:t>
            </a:r>
          </a:p>
          <a:p>
            <a:pPr>
              <a:lnSpc>
                <a:spcPct val="107000"/>
              </a:lnSpc>
              <a:spcAft>
                <a:spcPts val="800"/>
              </a:spcAft>
            </a:pPr>
            <a:r>
              <a:rPr lang="en-US" altLang="en-IN" sz="2000" b="1" dirty="0">
                <a:solidFill>
                  <a:schemeClr val="bg1"/>
                </a:solidFill>
                <a:ea typeface="SimSun" panose="02010600030101010101" pitchFamily="2" charset="-122"/>
              </a:rPr>
              <a:t> Hema Sathvika v-1MJ23IS027</a:t>
            </a:r>
          </a:p>
          <a:p>
            <a:pPr>
              <a:lnSpc>
                <a:spcPct val="107000"/>
              </a:lnSpc>
              <a:spcAft>
                <a:spcPts val="800"/>
              </a:spcAft>
            </a:pPr>
            <a:r>
              <a:rPr lang="en-US" altLang="en-IN" sz="2000" b="1" dirty="0">
                <a:solidFill>
                  <a:schemeClr val="bg1"/>
                </a:solidFill>
                <a:ea typeface="SimSun" panose="02010600030101010101" pitchFamily="2" charset="-122"/>
              </a:rPr>
              <a:t> Rishikesh Tale-1MJ23IS064</a:t>
            </a:r>
          </a:p>
          <a:p>
            <a:pPr>
              <a:lnSpc>
                <a:spcPct val="107000"/>
              </a:lnSpc>
              <a:spcAft>
                <a:spcPts val="800"/>
              </a:spcAft>
            </a:pPr>
            <a:r>
              <a:rPr lang="en-US" altLang="en-IN" sz="2000" b="1" dirty="0">
                <a:solidFill>
                  <a:schemeClr val="bg1"/>
                </a:solidFill>
                <a:ea typeface="SimSun" panose="02010600030101010101" pitchFamily="2" charset="-122"/>
              </a:rPr>
              <a:t> POOJA -1MJ23CH009</a:t>
            </a:r>
          </a:p>
          <a:p>
            <a:pPr>
              <a:lnSpc>
                <a:spcPct val="107000"/>
              </a:lnSpc>
              <a:spcAft>
                <a:spcPts val="800"/>
              </a:spcAft>
            </a:pPr>
            <a:endParaRPr lang="en-US" altLang="en-IN" sz="2000" b="1" dirty="0">
              <a:solidFill>
                <a:schemeClr val="bg1"/>
              </a:solidFill>
              <a:ea typeface="SimSun" panose="02010600030101010101" pitchFamily="2" charset="-122"/>
            </a:endParaRPr>
          </a:p>
        </p:txBody>
      </p:sp>
      <p:pic>
        <p:nvPicPr>
          <p:cNvPr id="10" name="Picture 9"/>
          <p:cNvPicPr>
            <a:picLocks noChangeAspect="1"/>
          </p:cNvPicPr>
          <p:nvPr/>
        </p:nvPicPr>
        <p:blipFill>
          <a:blip r:embed="rId4"/>
          <a:stretch>
            <a:fillRect/>
          </a:stretch>
        </p:blipFill>
        <p:spPr>
          <a:xfrm>
            <a:off x="0" y="6121756"/>
            <a:ext cx="1324347" cy="710487"/>
          </a:xfrm>
          <a:prstGeom prst="rect">
            <a:avLst/>
          </a:prstGeom>
        </p:spPr>
      </p:pic>
      <p:sp>
        <p:nvSpPr>
          <p:cNvPr id="11" name="TextBox 7"/>
          <p:cNvSpPr txBox="1">
            <a:spLocks noChangeArrowheads="1"/>
          </p:cNvSpPr>
          <p:nvPr/>
        </p:nvSpPr>
        <p:spPr bwMode="auto">
          <a:xfrm>
            <a:off x="-302451" y="5315793"/>
            <a:ext cx="7162800" cy="1338828"/>
          </a:xfrm>
          <a:prstGeom prst="rect">
            <a:avLst/>
          </a:prstGeom>
          <a:noFill/>
          <a:ln w="9525">
            <a:noFill/>
            <a:miter lim="800000"/>
          </a:ln>
        </p:spPr>
        <p:txBody>
          <a:bodyPr wrap="square">
            <a:spAutoFit/>
          </a:bodyPr>
          <a:lstStyle/>
          <a:p>
            <a:pPr marL="400050" indent="-400050" algn="ctr" eaLnBrk="1" hangingPunct="1">
              <a:lnSpc>
                <a:spcPct val="150000"/>
              </a:lnSpc>
            </a:pPr>
            <a:endParaRPr lang="en-US" b="1" dirty="0">
              <a:solidFill>
                <a:srgbClr val="002060"/>
              </a:solidFill>
              <a:latin typeface="Museo 300" panose="02000000000000000000" pitchFamily="50" charset="0"/>
              <a:cs typeface="Times New Roman" panose="02020603050405020304" pitchFamily="18" charset="0"/>
            </a:endParaRPr>
          </a:p>
          <a:p>
            <a:pPr marL="400050" indent="-400050" algn="ctr" eaLnBrk="1" hangingPunct="1">
              <a:lnSpc>
                <a:spcPct val="150000"/>
              </a:lnSpc>
            </a:pPr>
            <a:r>
              <a:rPr lang="en-US" b="1" dirty="0">
                <a:solidFill>
                  <a:srgbClr val="002060"/>
                </a:solidFill>
                <a:latin typeface="Museo 300" panose="02000000000000000000" pitchFamily="50" charset="0"/>
                <a:cs typeface="Times New Roman" panose="02020603050405020304" pitchFamily="18" charset="0"/>
              </a:rPr>
              <a:t>                </a:t>
            </a:r>
          </a:p>
          <a:p>
            <a:pPr marL="400050" indent="-400050" algn="ctr" eaLnBrk="1" hangingPunct="1">
              <a:lnSpc>
                <a:spcPct val="150000"/>
              </a:lnSpc>
            </a:pPr>
            <a:endParaRPr lang="en-US" b="1" dirty="0">
              <a:solidFill>
                <a:srgbClr val="002060"/>
              </a:solidFill>
              <a:latin typeface="Museo 300" panose="02000000000000000000" pitchFamily="50" charset="0"/>
              <a:cs typeface="Times New Roman" panose="02020603050405020304" pitchFamily="18" charset="0"/>
            </a:endParaRPr>
          </a:p>
        </p:txBody>
      </p:sp>
      <p:pic>
        <p:nvPicPr>
          <p:cNvPr id="3" name="Picture 2">
            <a:extLst>
              <a:ext uri="{FF2B5EF4-FFF2-40B4-BE49-F238E27FC236}">
                <a16:creationId xmlns:a16="http://schemas.microsoft.com/office/drawing/2014/main" id="{E97DE9C8-6783-BDE0-5FAE-509D72B1D695}"/>
              </a:ext>
            </a:extLst>
          </p:cNvPr>
          <p:cNvPicPr>
            <a:picLocks noChangeAspect="1"/>
          </p:cNvPicPr>
          <p:nvPr/>
        </p:nvPicPr>
        <p:blipFill>
          <a:blip r:embed="rId5"/>
          <a:stretch>
            <a:fillRect/>
          </a:stretch>
        </p:blipFill>
        <p:spPr>
          <a:xfrm>
            <a:off x="6091237" y="3424237"/>
            <a:ext cx="9526" cy="95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Contents</a:t>
            </a:r>
          </a:p>
        </p:txBody>
      </p:sp>
      <p:sp>
        <p:nvSpPr>
          <p:cNvPr id="4" name="Content Placeholder 3"/>
          <p:cNvSpPr>
            <a:spLocks noGrp="1"/>
          </p:cNvSpPr>
          <p:nvPr>
            <p:ph idx="1"/>
          </p:nvPr>
        </p:nvSpPr>
        <p:spPr>
          <a:xfrm>
            <a:off x="479376" y="1373409"/>
            <a:ext cx="10515600" cy="4351338"/>
          </a:xfrm>
        </p:spPr>
        <p:txBody>
          <a:bodyPr numCol="2">
            <a:normAutofit/>
          </a:bodyPr>
          <a:lstStyle/>
          <a:p>
            <a:pPr algn="just"/>
            <a:r>
              <a:rPr lang="en-US" sz="1600" dirty="0">
                <a:latin typeface="Times New Roman" panose="02020603050405020304" pitchFamily="18" charset="0"/>
                <a:cs typeface="Times New Roman" panose="02020603050405020304" pitchFamily="18" charset="0"/>
              </a:rPr>
              <a:t>Problems in society </a:t>
            </a:r>
          </a:p>
          <a:p>
            <a:pPr algn="just"/>
            <a:r>
              <a:rPr lang="en-US" sz="1600" dirty="0">
                <a:latin typeface="Times New Roman" panose="02020603050405020304" pitchFamily="18" charset="0"/>
                <a:cs typeface="Times New Roman" panose="02020603050405020304" pitchFamily="18" charset="0"/>
              </a:rPr>
              <a:t>Abstract</a:t>
            </a:r>
          </a:p>
          <a:p>
            <a:pPr algn="just"/>
            <a:r>
              <a:rPr lang="en-US" sz="1600" dirty="0">
                <a:latin typeface="Times New Roman" panose="02020603050405020304" pitchFamily="18" charset="0"/>
                <a:cs typeface="Times New Roman" panose="02020603050405020304" pitchFamily="18" charset="0"/>
              </a:rPr>
              <a:t>Introduction</a:t>
            </a:r>
          </a:p>
          <a:p>
            <a:pPr algn="just"/>
            <a:r>
              <a:rPr lang="en-US" sz="1600" dirty="0">
                <a:latin typeface="Times New Roman" panose="02020603050405020304" pitchFamily="18" charset="0"/>
                <a:cs typeface="Times New Roman" panose="02020603050405020304" pitchFamily="18" charset="0"/>
              </a:rPr>
              <a:t>Literature Survey</a:t>
            </a:r>
          </a:p>
          <a:p>
            <a:pPr algn="just"/>
            <a:r>
              <a:rPr lang="en-US" sz="1600" dirty="0">
                <a:latin typeface="Times New Roman" panose="02020603050405020304" pitchFamily="18" charset="0"/>
                <a:cs typeface="Times New Roman" panose="02020603050405020304" pitchFamily="18" charset="0"/>
              </a:rPr>
              <a:t>Objectives </a:t>
            </a:r>
          </a:p>
          <a:p>
            <a:pPr algn="just"/>
            <a:r>
              <a:rPr lang="en-US" sz="1600">
                <a:latin typeface="Times New Roman" panose="02020603050405020304" pitchFamily="18" charset="0"/>
                <a:cs typeface="Times New Roman" panose="02020603050405020304" pitchFamily="18" charset="0"/>
              </a:rPr>
              <a:t>Proposed solution</a:t>
            </a:r>
            <a:r>
              <a:rPr lang="en-US" sz="1600" dirty="0">
                <a:latin typeface="Times New Roman" panose="02020603050405020304" pitchFamily="18" charset="0"/>
                <a:cs typeface="Times New Roman" panose="02020603050405020304" pitchFamily="18" charset="0"/>
              </a:rPr>
              <a:t> </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dirty="0"/>
          </a:p>
        </p:txBody>
      </p:sp>
      <p:sp>
        <p:nvSpPr>
          <p:cNvPr id="2" name="Slide Number Placeholder 1"/>
          <p:cNvSpPr>
            <a:spLocks noGrp="1"/>
          </p:cNvSpPr>
          <p:nvPr>
            <p:ph type="sldNum" sz="quarter" idx="12"/>
          </p:nvPr>
        </p:nvSpPr>
        <p:spPr/>
        <p:txBody>
          <a:bodyPr/>
          <a:lstStyle/>
          <a:p>
            <a:pPr>
              <a:defRPr/>
            </a:pPr>
            <a:fld id="{DA6FD02F-D3CD-4E4F-800F-75D2C3ECA6E5}"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5D3D-C589-A7E2-437D-7536E8A21667}"/>
              </a:ext>
            </a:extLst>
          </p:cNvPr>
          <p:cNvSpPr>
            <a:spLocks noGrp="1"/>
          </p:cNvSpPr>
          <p:nvPr>
            <p:ph type="title"/>
          </p:nvPr>
        </p:nvSpPr>
        <p:spPr/>
        <p:txBody>
          <a:bodyPr/>
          <a:lstStyle/>
          <a:p>
            <a:r>
              <a:rPr lang="en-US" dirty="0"/>
              <a:t>PROBLEMS IN SOCIETY </a:t>
            </a:r>
            <a:endParaRPr lang="en-IN" dirty="0"/>
          </a:p>
        </p:txBody>
      </p:sp>
      <p:sp>
        <p:nvSpPr>
          <p:cNvPr id="3" name="Content Placeholder 2">
            <a:extLst>
              <a:ext uri="{FF2B5EF4-FFF2-40B4-BE49-F238E27FC236}">
                <a16:creationId xmlns:a16="http://schemas.microsoft.com/office/drawing/2014/main" id="{C36F1363-6BDA-FCBC-66D7-4CDD3054D21A}"/>
              </a:ext>
            </a:extLst>
          </p:cNvPr>
          <p:cNvSpPr>
            <a:spLocks noGrp="1"/>
          </p:cNvSpPr>
          <p:nvPr>
            <p:ph idx="1"/>
          </p:nvPr>
        </p:nvSpPr>
        <p:spPr/>
        <p:txBody>
          <a:bodyPr>
            <a:normAutofit/>
          </a:bodyPr>
          <a:lstStyle/>
          <a:p>
            <a:pPr marL="0" indent="0">
              <a:lnSpc>
                <a:spcPct val="100000"/>
              </a:lnSpc>
              <a:spcBef>
                <a:spcPts val="0"/>
              </a:spcBef>
              <a:buNone/>
            </a:pPr>
            <a:endParaRPr lang="en-US" dirty="0"/>
          </a:p>
          <a:p>
            <a:pPr>
              <a:lnSpc>
                <a:spcPct val="100000"/>
              </a:lnSpc>
              <a:spcBef>
                <a:spcPts val="0"/>
              </a:spcBef>
            </a:pPr>
            <a:r>
              <a:rPr lang="en-US" dirty="0"/>
              <a:t>Mixing wet and dry waste</a:t>
            </a:r>
          </a:p>
          <a:p>
            <a:pPr>
              <a:lnSpc>
                <a:spcPct val="100000"/>
              </a:lnSpc>
              <a:spcBef>
                <a:spcPts val="0"/>
              </a:spcBef>
            </a:pPr>
            <a:endParaRPr lang="en-US" dirty="0"/>
          </a:p>
          <a:p>
            <a:pPr>
              <a:lnSpc>
                <a:spcPct val="100000"/>
              </a:lnSpc>
              <a:spcBef>
                <a:spcPts val="0"/>
              </a:spcBef>
            </a:pPr>
            <a:r>
              <a:rPr lang="en-US" dirty="0"/>
              <a:t>No awareness about reuse</a:t>
            </a:r>
          </a:p>
          <a:p>
            <a:pPr marL="0" indent="0">
              <a:lnSpc>
                <a:spcPct val="100000"/>
              </a:lnSpc>
              <a:spcBef>
                <a:spcPts val="0"/>
              </a:spcBef>
              <a:buNone/>
            </a:pPr>
            <a:endParaRPr lang="en-US" dirty="0"/>
          </a:p>
          <a:p>
            <a:pPr>
              <a:lnSpc>
                <a:spcPct val="100000"/>
              </a:lnSpc>
              <a:spcBef>
                <a:spcPts val="0"/>
              </a:spcBef>
            </a:pPr>
            <a:r>
              <a:rPr lang="en-US" dirty="0"/>
              <a:t>E-waste thrown in normal bins</a:t>
            </a:r>
          </a:p>
          <a:p>
            <a:pPr>
              <a:lnSpc>
                <a:spcPct val="100000"/>
              </a:lnSpc>
              <a:spcBef>
                <a:spcPts val="0"/>
              </a:spcBef>
            </a:pPr>
            <a:endParaRPr lang="en-US" dirty="0"/>
          </a:p>
          <a:p>
            <a:pPr>
              <a:lnSpc>
                <a:spcPct val="100000"/>
              </a:lnSpc>
              <a:spcBef>
                <a:spcPts val="0"/>
              </a:spcBef>
            </a:pPr>
            <a:r>
              <a:rPr lang="en-US" dirty="0"/>
              <a:t>Lack of recycling knowledge</a:t>
            </a:r>
          </a:p>
          <a:p>
            <a:pPr marL="0" indent="0">
              <a:lnSpc>
                <a:spcPct val="100000"/>
              </a:lnSpc>
              <a:spcBef>
                <a:spcPts val="0"/>
              </a:spcBef>
              <a:buNone/>
            </a:pPr>
            <a:endParaRPr lang="en-US" dirty="0"/>
          </a:p>
        </p:txBody>
      </p:sp>
      <p:sp>
        <p:nvSpPr>
          <p:cNvPr id="4" name="Slide Number Placeholder 3">
            <a:extLst>
              <a:ext uri="{FF2B5EF4-FFF2-40B4-BE49-F238E27FC236}">
                <a16:creationId xmlns:a16="http://schemas.microsoft.com/office/drawing/2014/main" id="{E4C953AF-F899-6727-8FBF-63C8EE532D19}"/>
              </a:ext>
            </a:extLst>
          </p:cNvPr>
          <p:cNvSpPr>
            <a:spLocks noGrp="1"/>
          </p:cNvSpPr>
          <p:nvPr>
            <p:ph type="sldNum" sz="quarter" idx="12"/>
          </p:nvPr>
        </p:nvSpPr>
        <p:spPr/>
        <p:txBody>
          <a:bodyPr/>
          <a:lstStyle/>
          <a:p>
            <a:pPr>
              <a:defRPr/>
            </a:pPr>
            <a:fld id="{7567225B-3001-4770-81AD-EA67E82D7225}" type="slidenum">
              <a:rPr lang="en-US" smtClean="0"/>
              <a:pPr>
                <a:defRPr/>
              </a:pPr>
              <a:t>3</a:t>
            </a:fld>
            <a:endParaRPr lang="en-US" dirty="0"/>
          </a:p>
        </p:txBody>
      </p:sp>
    </p:spTree>
    <p:extLst>
      <p:ext uri="{BB962C8B-B14F-4D97-AF65-F5344CB8AC3E}">
        <p14:creationId xmlns:p14="http://schemas.microsoft.com/office/powerpoint/2010/main" val="138835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Abstract</a:t>
            </a:r>
          </a:p>
        </p:txBody>
      </p:sp>
      <p:sp>
        <p:nvSpPr>
          <p:cNvPr id="4" name="Content Placeholder 3"/>
          <p:cNvSpPr>
            <a:spLocks noGrp="1"/>
          </p:cNvSpPr>
          <p:nvPr>
            <p:ph idx="1"/>
          </p:nvPr>
        </p:nvSpPr>
        <p:spPr>
          <a:xfrm>
            <a:off x="553960" y="1373409"/>
            <a:ext cx="11028439" cy="3567759"/>
          </a:xfrm>
        </p:spPr>
        <p:txBody>
          <a:bodyPr>
            <a:noAutofit/>
          </a:bodyPr>
          <a:lstStyle/>
          <a:p>
            <a:pPr marL="0" indent="0" algn="just">
              <a:lnSpc>
                <a:spcPct val="150000"/>
              </a:lnSpc>
              <a:buNone/>
            </a:pPr>
            <a:r>
              <a:rPr lang="en-US" sz="1800" dirty="0"/>
              <a:t>This project introduces an innovative AI Smart Recyclable Detection system that utilizes Computer Vision for automated waste segregation. The primary input is a camera image of mixed waste items, which is processed in real-time by an Object Detection model, typically a Convolutional Neural Network (CNN) like YOLO, trained to identify various types of household trash. The system's core function is to produce an output that is the original image overlaid with colored bounding boxes around each detected item. This visual feedback is highly intuitive: a Green box immediately highlights objects classified as Recyclable (such as clean plastic, metal, and glass), while a Red box signifies items classified as Non-Recyclable (including food scraps, soiled paper, and certain complex materials). By providing instant, object-level classification and location, the system aims to dramatically increase the purity of recycled material streams, reduce contamination, and lay the foundation for highly efficient automated or "smart bin" waste sorting infrastructure.</a:t>
            </a:r>
          </a:p>
        </p:txBody>
      </p:sp>
      <p:sp>
        <p:nvSpPr>
          <p:cNvPr id="2" name="Slide Number Placeholder 1"/>
          <p:cNvSpPr>
            <a:spLocks noGrp="1"/>
          </p:cNvSpPr>
          <p:nvPr>
            <p:ph type="sldNum" sz="quarter" idx="12"/>
          </p:nvPr>
        </p:nvSpPr>
        <p:spPr/>
        <p:txBody>
          <a:bodyPr/>
          <a:lstStyle/>
          <a:p>
            <a:pPr>
              <a:defRPr/>
            </a:pPr>
            <a:fld id="{DA6FD02F-D3CD-4E4F-800F-75D2C3ECA6E5}" type="slidenum">
              <a:rPr lang="en-US" smtClean="0"/>
              <a:pPr>
                <a:defRPr/>
              </a:pPr>
              <a:t>4</a:t>
            </a:fld>
            <a:endParaRPr lang="en-US" dirty="0"/>
          </a:p>
        </p:txBody>
      </p:sp>
    </p:spTree>
    <p:extLst>
      <p:ext uri="{BB962C8B-B14F-4D97-AF65-F5344CB8AC3E}">
        <p14:creationId xmlns:p14="http://schemas.microsoft.com/office/powerpoint/2010/main" val="3549814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Introduction</a:t>
            </a:r>
          </a:p>
        </p:txBody>
      </p:sp>
      <p:sp>
        <p:nvSpPr>
          <p:cNvPr id="4" name="Content Placeholder 3"/>
          <p:cNvSpPr>
            <a:spLocks noGrp="1"/>
          </p:cNvSpPr>
          <p:nvPr>
            <p:ph idx="1"/>
          </p:nvPr>
        </p:nvSpPr>
        <p:spPr>
          <a:xfrm>
            <a:off x="553961" y="1373409"/>
            <a:ext cx="11104640" cy="4351338"/>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Traditional waste management methods depend on manual sorting, which is often slow, inaccurate, and labor-intensive. To address this issue, our project introduces an AI-based smart recyclable detection system that automatically identifies recyclable and non-recyclable waste from images. The system uses computer vision and deep learning algorithms to analyze the image and classify objects into two categories. Detected recyclable items are highlighted with green boxes, while non-recyclable items are marked with red boxes. This approach helps in promoting efficient recycling, reducing human effort, and minimizing environmental pollution. By integrating artificial intelligence into waste management, the system contributes to creating cleaner, smarter, and more sustainable cities.</a:t>
            </a:r>
          </a:p>
        </p:txBody>
      </p:sp>
      <p:sp>
        <p:nvSpPr>
          <p:cNvPr id="2" name="Slide Number Placeholder 1"/>
          <p:cNvSpPr>
            <a:spLocks noGrp="1"/>
          </p:cNvSpPr>
          <p:nvPr>
            <p:ph type="sldNum" sz="quarter" idx="12"/>
          </p:nvPr>
        </p:nvSpPr>
        <p:spPr/>
        <p:txBody>
          <a:bodyPr/>
          <a:lstStyle/>
          <a:p>
            <a:pPr>
              <a:defRPr/>
            </a:pPr>
            <a:fld id="{DA6FD02F-D3CD-4E4F-800F-75D2C3ECA6E5}" type="slidenum">
              <a:rPr lang="en-US" smtClean="0"/>
              <a:pPr>
                <a:defRPr/>
              </a:pPr>
              <a:t>5</a:t>
            </a:fld>
            <a:endParaRPr lang="en-US" dirty="0"/>
          </a:p>
        </p:txBody>
      </p:sp>
    </p:spTree>
    <p:extLst>
      <p:ext uri="{BB962C8B-B14F-4D97-AF65-F5344CB8AC3E}">
        <p14:creationId xmlns:p14="http://schemas.microsoft.com/office/powerpoint/2010/main" val="180903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2EDE9-D0FB-B1E7-EF54-610BC47872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C556E5-D3CA-6319-4F1A-4D6A9B3F1A63}"/>
              </a:ext>
            </a:extLst>
          </p:cNvPr>
          <p:cNvSpPr>
            <a:spLocks noGrp="1"/>
          </p:cNvSpPr>
          <p:nvPr>
            <p:ph type="title"/>
          </p:nvPr>
        </p:nvSpPr>
        <p:spPr>
          <a:xfrm>
            <a:off x="1669649" y="51225"/>
            <a:ext cx="10515600" cy="860636"/>
          </a:xfrm>
        </p:spPr>
        <p:txBody>
          <a:bodyPr/>
          <a:lstStyle/>
          <a:p>
            <a:r>
              <a:rPr lang="en-US" sz="3600" dirty="0"/>
              <a:t>Literature Survey (10 papers)</a:t>
            </a:r>
            <a:endParaRPr lang="en-US" dirty="0"/>
          </a:p>
        </p:txBody>
      </p:sp>
      <p:graphicFrame>
        <p:nvGraphicFramePr>
          <p:cNvPr id="5" name="Content Placeholder 4">
            <a:extLst>
              <a:ext uri="{FF2B5EF4-FFF2-40B4-BE49-F238E27FC236}">
                <a16:creationId xmlns:a16="http://schemas.microsoft.com/office/drawing/2014/main" id="{34321752-D63C-9C17-BFCD-7A784D86469F}"/>
              </a:ext>
            </a:extLst>
          </p:cNvPr>
          <p:cNvGraphicFramePr>
            <a:graphicFrameLocks noGrp="1"/>
          </p:cNvGraphicFramePr>
          <p:nvPr>
            <p:ph idx="1"/>
            <p:extLst>
              <p:ext uri="{D42A27DB-BD31-4B8C-83A1-F6EECF244321}">
                <p14:modId xmlns:p14="http://schemas.microsoft.com/office/powerpoint/2010/main" val="2296569286"/>
              </p:ext>
            </p:extLst>
          </p:nvPr>
        </p:nvGraphicFramePr>
        <p:xfrm>
          <a:off x="342900" y="764704"/>
          <a:ext cx="11506200" cy="5486400"/>
        </p:xfrm>
        <a:graphic>
          <a:graphicData uri="http://schemas.openxmlformats.org/drawingml/2006/table">
            <a:tbl>
              <a:tblPr firstRow="1" bandRow="1">
                <a:tableStyleId>{5C22544A-7EE6-4342-B048-85BDC9FD1C3A}</a:tableStyleId>
              </a:tblPr>
              <a:tblGrid>
                <a:gridCol w="2876550">
                  <a:extLst>
                    <a:ext uri="{9D8B030D-6E8A-4147-A177-3AD203B41FA5}">
                      <a16:colId xmlns:a16="http://schemas.microsoft.com/office/drawing/2014/main" val="20000"/>
                    </a:ext>
                  </a:extLst>
                </a:gridCol>
                <a:gridCol w="2368220">
                  <a:extLst>
                    <a:ext uri="{9D8B030D-6E8A-4147-A177-3AD203B41FA5}">
                      <a16:colId xmlns:a16="http://schemas.microsoft.com/office/drawing/2014/main" val="20001"/>
                    </a:ext>
                  </a:extLst>
                </a:gridCol>
                <a:gridCol w="3384880">
                  <a:extLst>
                    <a:ext uri="{9D8B030D-6E8A-4147-A177-3AD203B41FA5}">
                      <a16:colId xmlns:a16="http://schemas.microsoft.com/office/drawing/2014/main" val="20002"/>
                    </a:ext>
                  </a:extLst>
                </a:gridCol>
                <a:gridCol w="2876550">
                  <a:extLst>
                    <a:ext uri="{9D8B030D-6E8A-4147-A177-3AD203B41FA5}">
                      <a16:colId xmlns:a16="http://schemas.microsoft.com/office/drawing/2014/main" val="20003"/>
                    </a:ext>
                  </a:extLst>
                </a:gridCol>
              </a:tblGrid>
              <a:tr h="270572">
                <a:tc>
                  <a:txBody>
                    <a:bodyPr/>
                    <a:lstStyle/>
                    <a:p>
                      <a:r>
                        <a:rPr lang="en-US" sz="1400" dirty="0"/>
                        <a:t>Author/Year</a:t>
                      </a:r>
                    </a:p>
                  </a:txBody>
                  <a:tcPr/>
                </a:tc>
                <a:tc>
                  <a:txBody>
                    <a:bodyPr/>
                    <a:lstStyle/>
                    <a:p>
                      <a:r>
                        <a:rPr lang="en-US" sz="1400" dirty="0"/>
                        <a:t>Title</a:t>
                      </a:r>
                    </a:p>
                  </a:txBody>
                  <a:tcPr/>
                </a:tc>
                <a:tc>
                  <a:txBody>
                    <a:bodyPr/>
                    <a:lstStyle/>
                    <a:p>
                      <a:r>
                        <a:rPr lang="en-US" sz="1400" dirty="0"/>
                        <a:t>Methodology</a:t>
                      </a:r>
                    </a:p>
                  </a:txBody>
                  <a:tcPr/>
                </a:tc>
                <a:tc>
                  <a:txBody>
                    <a:bodyPr/>
                    <a:lstStyle/>
                    <a:p>
                      <a:r>
                        <a:rPr lang="en-US" sz="1400" dirty="0"/>
                        <a:t>Advantages and Disadvantages</a:t>
                      </a:r>
                    </a:p>
                  </a:txBody>
                  <a:tcPr/>
                </a:tc>
                <a:extLst>
                  <a:ext uri="{0D108BD9-81ED-4DB2-BD59-A6C34878D82A}">
                    <a16:rowId xmlns:a16="http://schemas.microsoft.com/office/drawing/2014/main" val="10000"/>
                  </a:ext>
                </a:extLst>
              </a:tr>
              <a:tr h="14069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Gary White, Christian Cabrera, Andrei Palade, Fan Li, Siobhan Clarke/2020</a:t>
                      </a:r>
                      <a:endParaRPr lang="en-US" sz="1400" dirty="0"/>
                    </a:p>
                  </a:txBody>
                  <a:tcPr/>
                </a:tc>
                <a:tc>
                  <a:txBody>
                    <a:bodyPr/>
                    <a:lstStyle/>
                    <a:p>
                      <a:r>
                        <a:rPr lang="en-US" sz="1400" dirty="0"/>
                        <a:t>WasteNet: Waste Classification at the Edge for Smart Bins</a:t>
                      </a:r>
                    </a:p>
                  </a:txBody>
                  <a:tcPr/>
                </a:tc>
                <a:tc>
                  <a:txBody>
                    <a:bodyPr/>
                    <a:lstStyle/>
                    <a:p>
                      <a:r>
                        <a:rPr lang="en-US" sz="1400" b="0" dirty="0"/>
                        <a:t>WasteNet uses CNN-based deep learning on edge devices to classify waste images in real time as recyclable, non-recyclable, or organic, reducing cloud dependency and latency.</a:t>
                      </a:r>
                    </a:p>
                  </a:txBody>
                  <a:tcPr/>
                </a:tc>
                <a:tc>
                  <a:txBody>
                    <a:bodyPr/>
                    <a:lstStyle/>
                    <a:p>
                      <a:r>
                        <a:rPr lang="en-US" sz="1400" b="1" dirty="0">
                          <a:latin typeface="Times New Roman" panose="02020603050405020304" pitchFamily="18" charset="0"/>
                          <a:cs typeface="Times New Roman" panose="02020603050405020304" pitchFamily="18" charset="0"/>
                        </a:rPr>
                        <a:t>Adv: </a:t>
                      </a:r>
                      <a:r>
                        <a:rPr lang="en-US" sz="1400" b="0" dirty="0"/>
                        <a:t>Real-time classification enables instant waste sorting. Edge AI reduces cloud usage and saves bandwidth.</a:t>
                      </a:r>
                      <a:endParaRPr lang="en-US" sz="1400" b="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Dis: </a:t>
                      </a:r>
                      <a:r>
                        <a:rPr lang="en-US" sz="1400" b="0" dirty="0"/>
                        <a:t>Limited edge device power can restrict model complexity. High initial cost for smart bins and sensors.</a:t>
                      </a:r>
                    </a:p>
                  </a:txBody>
                  <a:tcPr/>
                </a:tc>
                <a:extLst>
                  <a:ext uri="{0D108BD9-81ED-4DB2-BD59-A6C34878D82A}">
                    <a16:rowId xmlns:a16="http://schemas.microsoft.com/office/drawing/2014/main" val="10001"/>
                  </a:ext>
                </a:extLst>
              </a:tr>
              <a:tr h="665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Victor De Gea, Santiago T. Puente, Pablo Gil/2021</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Domestic Waste Detection and Grasping Points for Robotic Picking Up</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paper presents an AI system applied to waste detection and robotic grasping. Using Mask-RCNN, the system detects waste in indoor and outdoor environments, generating 3D object shapes to compute grasping points for robotic arms. </a:t>
                      </a:r>
                    </a:p>
                    <a:p>
                      <a:endParaRPr lang="en-US" sz="1400" b="0" dirty="0"/>
                    </a:p>
                  </a:txBody>
                  <a:tcPr/>
                </a:tc>
                <a:tc>
                  <a:txBody>
                    <a:bodyPr/>
                    <a:lstStyle/>
                    <a:p>
                      <a:r>
                        <a:rPr lang="en-US" sz="1400" b="1" dirty="0">
                          <a:solidFill>
                            <a:schemeClr val="tx1"/>
                          </a:solidFill>
                          <a:latin typeface="Times New Roman" panose="02020603050405020304" pitchFamily="18" charset="0"/>
                          <a:cs typeface="Times New Roman" panose="02020603050405020304" pitchFamily="18" charset="0"/>
                        </a:rPr>
                        <a:t>Adv: </a:t>
                      </a:r>
                      <a:r>
                        <a:rPr lang="en-US" sz="1400" b="0" dirty="0">
                          <a:solidFill>
                            <a:schemeClr val="tx1"/>
                          </a:solidFill>
                        </a:rPr>
                        <a:t>Automates waste collection with robotic arms, Accurate waste detection using Mask R-CNN for various indoor and outdoor environments.</a:t>
                      </a:r>
                      <a:endParaRPr lang="en-US" sz="1400"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Dis</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a:solidFill>
                            <a:schemeClr val="tx1"/>
                          </a:solidFill>
                        </a:rPr>
                        <a:t>Requires high computational power for real-time detection and grasp planning</a:t>
                      </a:r>
                      <a:r>
                        <a:rPr lang="en-US" sz="1400" b="0" dirty="0"/>
                        <a:t>.</a:t>
                      </a:r>
                    </a:p>
                    <a:p>
                      <a:pPr algn="just"/>
                      <a:endParaRPr lang="en-US" sz="1400" b="0" dirty="0"/>
                    </a:p>
                  </a:txBody>
                  <a:tcPr/>
                </a:tc>
                <a:extLst>
                  <a:ext uri="{0D108BD9-81ED-4DB2-BD59-A6C34878D82A}">
                    <a16:rowId xmlns:a16="http://schemas.microsoft.com/office/drawing/2014/main" val="1159923412"/>
                  </a:ext>
                </a:extLst>
              </a:tr>
              <a:tr h="14069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t>Youpeng</a:t>
                      </a:r>
                      <a:r>
                        <a:rPr lang="en-IN" sz="1400" dirty="0"/>
                        <a:t> Yu, Ryan Grammenos/2021</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err="1"/>
                        <a:t>DeepWaste</a:t>
                      </a:r>
                      <a:r>
                        <a:rPr lang="en-US" sz="1400" b="0" dirty="0"/>
                        <a:t>: Applying Deep Learning to Waste Classification for a Sustainable Planet </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DeepWaste</a:t>
                      </a:r>
                      <a:r>
                        <a:rPr lang="en-US" sz="1400" dirty="0"/>
                        <a:t> is a mobile app that utilizes deep learning techniques to classify waste into trash, recycling, and compost categories. The app achieved an average precision of 0.881 using a 50-layer residual neural network.</a:t>
                      </a:r>
                    </a:p>
                    <a:p>
                      <a:endParaRPr lang="en-US" sz="1400" b="0" dirty="0"/>
                    </a:p>
                  </a:txBody>
                  <a:tcPr/>
                </a:tc>
                <a:tc>
                  <a:txBody>
                    <a:bodyPr/>
                    <a:lstStyle/>
                    <a:p>
                      <a:pPr algn="l"/>
                      <a:r>
                        <a:rPr lang="en-US" sz="1400" b="1" dirty="0">
                          <a:solidFill>
                            <a:schemeClr val="tx1"/>
                          </a:solidFill>
                          <a:latin typeface="Times New Roman" panose="02020603050405020304" pitchFamily="18" charset="0"/>
                          <a:cs typeface="Times New Roman" panose="02020603050405020304" pitchFamily="18" charset="0"/>
                        </a:rPr>
                        <a:t>Adv: </a:t>
                      </a:r>
                      <a:r>
                        <a:rPr lang="en-US" sz="1400" b="0" dirty="0">
                          <a:solidFill>
                            <a:schemeClr val="tx1"/>
                          </a:solidFill>
                        </a:rPr>
                        <a:t>Automates waste classification using deep learning, reducing human effort.</a:t>
                      </a:r>
                      <a:endParaRPr lang="en-US" sz="1400" b="0" dirty="0">
                        <a:solidFill>
                          <a:schemeClr val="tx1"/>
                        </a:solidFill>
                        <a:latin typeface="Times New Roman" panose="02020603050405020304" pitchFamily="18" charset="0"/>
                        <a:cs typeface="Times New Roman" panose="02020603050405020304" pitchFamily="18" charset="0"/>
                      </a:endParaRPr>
                    </a:p>
                    <a:p>
                      <a:pPr algn="l"/>
                      <a:r>
                        <a:rPr lang="en-US" sz="1400" b="1" dirty="0">
                          <a:solidFill>
                            <a:schemeClr val="tx1"/>
                          </a:solidFill>
                          <a:latin typeface="Times New Roman" panose="02020603050405020304" pitchFamily="18" charset="0"/>
                          <a:cs typeface="Times New Roman" panose="02020603050405020304" pitchFamily="18" charset="0"/>
                        </a:rPr>
                        <a:t>Dis</a:t>
                      </a:r>
                      <a:r>
                        <a:rPr lang="en-US" sz="1400" dirty="0">
                          <a:solidFill>
                            <a:schemeClr val="tx1"/>
                          </a:solidFill>
                          <a:latin typeface="Times New Roman" panose="02020603050405020304" pitchFamily="18" charset="0"/>
                          <a:cs typeface="Times New Roman" panose="02020603050405020304" pitchFamily="18" charset="0"/>
                        </a:rPr>
                        <a:t>: </a:t>
                      </a:r>
                      <a:r>
                        <a:rPr lang="en-US" sz="1400" b="0" dirty="0">
                          <a:solidFill>
                            <a:schemeClr val="tx1"/>
                          </a:solidFill>
                        </a:rPr>
                        <a:t>Dependent on quality of input images; poor lighting can reduce accuracy</a:t>
                      </a:r>
                    </a:p>
                  </a:txBody>
                  <a:tcPr/>
                </a:tc>
                <a:extLst>
                  <a:ext uri="{0D108BD9-81ED-4DB2-BD59-A6C34878D82A}">
                    <a16:rowId xmlns:a16="http://schemas.microsoft.com/office/drawing/2014/main" val="1019455684"/>
                  </a:ext>
                </a:extLst>
              </a:tr>
            </a:tbl>
          </a:graphicData>
        </a:graphic>
      </p:graphicFrame>
      <p:sp>
        <p:nvSpPr>
          <p:cNvPr id="2" name="Slide Number Placeholder 1">
            <a:extLst>
              <a:ext uri="{FF2B5EF4-FFF2-40B4-BE49-F238E27FC236}">
                <a16:creationId xmlns:a16="http://schemas.microsoft.com/office/drawing/2014/main" id="{5E48B68E-F684-7E3F-EC75-575089F108D9}"/>
              </a:ext>
            </a:extLst>
          </p:cNvPr>
          <p:cNvSpPr>
            <a:spLocks noGrp="1"/>
          </p:cNvSpPr>
          <p:nvPr>
            <p:ph type="sldNum" sz="quarter" idx="12"/>
          </p:nvPr>
        </p:nvSpPr>
        <p:spPr/>
        <p:txBody>
          <a:bodyPr/>
          <a:lstStyle/>
          <a:p>
            <a:pPr>
              <a:defRPr/>
            </a:pPr>
            <a:fld id="{DA6FD02F-D3CD-4E4F-800F-75D2C3ECA6E5}" type="slidenum">
              <a:rPr lang="en-US" smtClean="0"/>
              <a:pPr>
                <a:defRPr/>
              </a:pPr>
              <a:t>6</a:t>
            </a:fld>
            <a:endParaRPr lang="en-US" dirty="0"/>
          </a:p>
        </p:txBody>
      </p:sp>
    </p:spTree>
    <p:extLst>
      <p:ext uri="{BB962C8B-B14F-4D97-AF65-F5344CB8AC3E}">
        <p14:creationId xmlns:p14="http://schemas.microsoft.com/office/powerpoint/2010/main" val="4141747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0BCFAE-C739-4247-EB93-9C233C2F0374}"/>
              </a:ext>
            </a:extLst>
          </p:cNvPr>
          <p:cNvSpPr>
            <a:spLocks noGrp="1"/>
          </p:cNvSpPr>
          <p:nvPr>
            <p:ph type="sldNum" sz="quarter" idx="12"/>
          </p:nvPr>
        </p:nvSpPr>
        <p:spPr/>
        <p:txBody>
          <a:bodyPr/>
          <a:lstStyle/>
          <a:p>
            <a:pPr>
              <a:defRPr/>
            </a:pPr>
            <a:fld id="{DA6FD02F-D3CD-4E4F-800F-75D2C3ECA6E5}" type="slidenum">
              <a:rPr lang="en-US" smtClean="0"/>
              <a:pPr>
                <a:defRPr/>
              </a:pPr>
              <a:t>7</a:t>
            </a:fld>
            <a:endParaRPr lang="en-US" dirty="0"/>
          </a:p>
        </p:txBody>
      </p:sp>
      <p:graphicFrame>
        <p:nvGraphicFramePr>
          <p:cNvPr id="3" name="Table 2">
            <a:extLst>
              <a:ext uri="{FF2B5EF4-FFF2-40B4-BE49-F238E27FC236}">
                <a16:creationId xmlns:a16="http://schemas.microsoft.com/office/drawing/2014/main" id="{BA876C56-28E6-B388-CFA5-C6434EA34764}"/>
              </a:ext>
            </a:extLst>
          </p:cNvPr>
          <p:cNvGraphicFramePr>
            <a:graphicFrameLocks noGrp="1"/>
          </p:cNvGraphicFramePr>
          <p:nvPr>
            <p:extLst>
              <p:ext uri="{D42A27DB-BD31-4B8C-83A1-F6EECF244321}">
                <p14:modId xmlns:p14="http://schemas.microsoft.com/office/powerpoint/2010/main" val="988262551"/>
              </p:ext>
            </p:extLst>
          </p:nvPr>
        </p:nvGraphicFramePr>
        <p:xfrm>
          <a:off x="419100" y="624840"/>
          <a:ext cx="11353800" cy="5608320"/>
        </p:xfrm>
        <a:graphic>
          <a:graphicData uri="http://schemas.openxmlformats.org/drawingml/2006/table">
            <a:tbl>
              <a:tblPr firstRow="1" bandRow="1">
                <a:tableStyleId>{5C22544A-7EE6-4342-B048-85BDC9FD1C3A}</a:tableStyleId>
              </a:tblPr>
              <a:tblGrid>
                <a:gridCol w="2838450">
                  <a:extLst>
                    <a:ext uri="{9D8B030D-6E8A-4147-A177-3AD203B41FA5}">
                      <a16:colId xmlns:a16="http://schemas.microsoft.com/office/drawing/2014/main" val="4047701506"/>
                    </a:ext>
                  </a:extLst>
                </a:gridCol>
                <a:gridCol w="2838450">
                  <a:extLst>
                    <a:ext uri="{9D8B030D-6E8A-4147-A177-3AD203B41FA5}">
                      <a16:colId xmlns:a16="http://schemas.microsoft.com/office/drawing/2014/main" val="2526716148"/>
                    </a:ext>
                  </a:extLst>
                </a:gridCol>
                <a:gridCol w="2838450">
                  <a:extLst>
                    <a:ext uri="{9D8B030D-6E8A-4147-A177-3AD203B41FA5}">
                      <a16:colId xmlns:a16="http://schemas.microsoft.com/office/drawing/2014/main" val="208353102"/>
                    </a:ext>
                  </a:extLst>
                </a:gridCol>
                <a:gridCol w="2838450">
                  <a:extLst>
                    <a:ext uri="{9D8B030D-6E8A-4147-A177-3AD203B41FA5}">
                      <a16:colId xmlns:a16="http://schemas.microsoft.com/office/drawing/2014/main" val="2019787279"/>
                    </a:ext>
                  </a:extLst>
                </a:gridCol>
              </a:tblGrid>
              <a:tr h="6221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Author/Year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Title</a:t>
                      </a:r>
                    </a:p>
                    <a:p>
                      <a:endParaRPr lang="en-IN" dirty="0"/>
                    </a:p>
                  </a:txBody>
                  <a:tcPr/>
                </a:tc>
                <a:tc>
                  <a:txBody>
                    <a:bodyPr/>
                    <a:lstStyle/>
                    <a:p>
                      <a:r>
                        <a:rPr lang="en-US" dirty="0"/>
                        <a:t>Methodology</a:t>
                      </a:r>
                    </a:p>
                  </a:txBody>
                  <a:tcPr/>
                </a:tc>
                <a:tc>
                  <a:txBody>
                    <a:bodyPr/>
                    <a:lstStyle/>
                    <a:p>
                      <a:r>
                        <a:rPr lang="en-US" dirty="0"/>
                        <a:t>Advantages and Disadvantages</a:t>
                      </a:r>
                    </a:p>
                  </a:txBody>
                  <a:tcPr/>
                </a:tc>
                <a:extLst>
                  <a:ext uri="{0D108BD9-81ED-4DB2-BD59-A6C34878D82A}">
                    <a16:rowId xmlns:a16="http://schemas.microsoft.com/office/drawing/2014/main" val="2320677857"/>
                  </a:ext>
                </a:extLst>
              </a:tr>
              <a:tr h="412902">
                <a:tc>
                  <a:txBody>
                    <a:bodyPr/>
                    <a:lstStyle/>
                    <a:p>
                      <a:r>
                        <a:rPr lang="en-IN" sz="1400" dirty="0" err="1"/>
                        <a:t>Xueying</a:t>
                      </a:r>
                      <a:r>
                        <a:rPr lang="en-IN" sz="1400" dirty="0"/>
                        <a:t> Li, Ryan Grammenos/2022</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 Smart Recycling Bin Using Waste Image Classification at the Edge</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study developed a smart recycling bin that utilizes deep learning models for waste classification at the edge. The system achieved high accuracy in classifying waste images, demonstrating the feasibility of edge-based waste sorting.</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solidFill>
                            <a:schemeClr val="tx1"/>
                          </a:solidFill>
                          <a:latin typeface="Times New Roman" panose="02020603050405020304" pitchFamily="18" charset="0"/>
                          <a:cs typeface="Times New Roman" panose="02020603050405020304" pitchFamily="18" charset="0"/>
                        </a:rPr>
                        <a:t>Adv: </a:t>
                      </a:r>
                      <a:r>
                        <a:rPr lang="en-US" sz="1400" b="0" dirty="0">
                          <a:solidFill>
                            <a:schemeClr val="tx1"/>
                          </a:solidFill>
                        </a:rPr>
                        <a:t>Real-time waste classification directly on edge devices, reducing latency. Minimizes cloud dependency, saving bandwidth and improving response time</a:t>
                      </a:r>
                      <a:r>
                        <a:rPr lang="en-US" sz="1400" dirty="0">
                          <a:solidFill>
                            <a:schemeClr val="tx1"/>
                          </a:solidFill>
                        </a:rPr>
                        <a:t>.</a:t>
                      </a:r>
                    </a:p>
                    <a:p>
                      <a:r>
                        <a:rPr lang="en-US" sz="1400" b="1" dirty="0">
                          <a:solidFill>
                            <a:schemeClr val="tx1"/>
                          </a:solidFill>
                          <a:latin typeface="Times New Roman" panose="02020603050405020304" pitchFamily="18" charset="0"/>
                          <a:cs typeface="Times New Roman" panose="02020603050405020304" pitchFamily="18" charset="0"/>
                        </a:rPr>
                        <a:t>Dis: </a:t>
                      </a:r>
                      <a:r>
                        <a:rPr lang="en-US" sz="1400" b="0" dirty="0">
                          <a:solidFill>
                            <a:schemeClr val="tx1"/>
                          </a:solidFill>
                        </a:rPr>
                        <a:t>Limited edge device resources may restrict model complexity</a:t>
                      </a:r>
                      <a:r>
                        <a:rPr lang="en-US" sz="1400" b="0" dirty="0"/>
                        <a:t>.</a:t>
                      </a:r>
                      <a:endParaRPr lang="en-IN" sz="1400" b="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1770726"/>
                  </a:ext>
                </a:extLst>
              </a:tr>
              <a:tr h="1353717">
                <a:tc>
                  <a:txBody>
                    <a:bodyPr/>
                    <a:lstStyle/>
                    <a:p>
                      <a:r>
                        <a:rPr lang="en-IN" sz="1400" dirty="0"/>
                        <a:t>Jerome B. </a:t>
                      </a:r>
                      <a:r>
                        <a:rPr lang="en-IN" sz="1400" dirty="0" err="1"/>
                        <a:t>Sigongan</a:t>
                      </a:r>
                      <a:r>
                        <a:rPr lang="en-IN" sz="1400" dirty="0"/>
                        <a:t>, Hamer P. </a:t>
                      </a:r>
                      <a:r>
                        <a:rPr lang="en-IN" sz="1400" dirty="0" err="1"/>
                        <a:t>Sinodlay</a:t>
                      </a:r>
                      <a:r>
                        <a:rPr lang="en-IN" sz="1400" dirty="0"/>
                        <a:t>, Shahida </a:t>
                      </a:r>
                      <a:r>
                        <a:rPr lang="en-IN" sz="1400" dirty="0" err="1"/>
                        <a:t>Xerxy</a:t>
                      </a:r>
                      <a:r>
                        <a:rPr lang="en-IN" sz="1400" dirty="0"/>
                        <a:t> P. Cuizon, Joanna S. Redondo, Maricel G. </a:t>
                      </a:r>
                      <a:r>
                        <a:rPr lang="en-IN" sz="1400" dirty="0" err="1"/>
                        <a:t>Macapulay</a:t>
                      </a:r>
                      <a:r>
                        <a:rPr lang="en-IN" sz="1400" dirty="0"/>
                        <a:t>, Charlene O. </a:t>
                      </a:r>
                      <a:r>
                        <a:rPr lang="en-IN" sz="1400" dirty="0" err="1"/>
                        <a:t>Bulahan-Undag</a:t>
                      </a:r>
                      <a:r>
                        <a:rPr lang="en-IN" sz="1400" dirty="0"/>
                        <a:t>/2023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GULP: Solar-Powered Smart Garbage Segregation Bins with SMS Notification and Machine Learning Image Processing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This paper presents GULP, a solar-powered smart garbage segregation bin that uses machine learning for image processing. They include SMS notifications for waste collection.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solidFill>
                            <a:schemeClr val="tx1"/>
                          </a:solidFill>
                          <a:latin typeface="Times New Roman" panose="02020603050405020304" pitchFamily="18" charset="0"/>
                          <a:cs typeface="Times New Roman" panose="02020603050405020304" pitchFamily="18" charset="0"/>
                        </a:rPr>
                        <a:t>Adv</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a:solidFill>
                            <a:schemeClr val="tx1"/>
                          </a:solidFill>
                        </a:rPr>
                        <a:t>Automates waste segregation using machine learning, reducing manual labor. </a:t>
                      </a:r>
                    </a:p>
                    <a:p>
                      <a:r>
                        <a:rPr lang="en-US" sz="1400" b="1" dirty="0">
                          <a:solidFill>
                            <a:schemeClr val="tx1"/>
                          </a:solidFill>
                          <a:latin typeface="Times New Roman" panose="02020603050405020304" pitchFamily="18" charset="0"/>
                          <a:cs typeface="Times New Roman" panose="02020603050405020304" pitchFamily="18" charset="0"/>
                        </a:rPr>
                        <a:t>Dis:-</a:t>
                      </a:r>
                      <a:r>
                        <a:rPr lang="en-US" sz="1400" b="0" dirty="0">
                          <a:solidFill>
                            <a:schemeClr val="tx1"/>
                          </a:solidFill>
                        </a:rPr>
                        <a:t>Performance may drop under poor lighting or cluttered environments</a:t>
                      </a:r>
                      <a:r>
                        <a:rPr lang="en-US" sz="1400" b="0" dirty="0"/>
                        <a:t>.</a:t>
                      </a:r>
                      <a:endParaRPr lang="en-IN" sz="1400" b="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3016039"/>
                  </a:ext>
                </a:extLst>
              </a:tr>
              <a:tr h="1125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Dina </a:t>
                      </a:r>
                      <a:r>
                        <a:rPr lang="en-IN" sz="1400" dirty="0" err="1"/>
                        <a:t>Bashkirova</a:t>
                      </a:r>
                      <a:r>
                        <a:rPr lang="en-IN" sz="1400" dirty="0"/>
                        <a:t>, Samarth Mishra, Diala </a:t>
                      </a:r>
                      <a:r>
                        <a:rPr lang="en-IN" sz="1400" dirty="0" err="1"/>
                        <a:t>Lteif</a:t>
                      </a:r>
                      <a:r>
                        <a:rPr lang="en-IN" sz="1400" dirty="0"/>
                        <a:t>, Piotr </a:t>
                      </a:r>
                      <a:r>
                        <a:rPr lang="en-IN" sz="1400" dirty="0" err="1"/>
                        <a:t>Teterwak</a:t>
                      </a:r>
                      <a:r>
                        <a:rPr lang="en-IN" sz="1400" dirty="0"/>
                        <a:t>, </a:t>
                      </a:r>
                      <a:r>
                        <a:rPr lang="en-IN" sz="1400" dirty="0" err="1"/>
                        <a:t>Donghyun</a:t>
                      </a:r>
                      <a:r>
                        <a:rPr lang="en-IN" sz="1400" dirty="0"/>
                        <a:t> Kim, Fadi </a:t>
                      </a:r>
                      <a:r>
                        <a:rPr lang="en-IN" sz="1400" dirty="0" err="1"/>
                        <a:t>Alladkani</a:t>
                      </a:r>
                      <a:r>
                        <a:rPr lang="en-IN" sz="1400" dirty="0"/>
                        <a:t>, James Akl, Berk Calli, Sarah Adel </a:t>
                      </a:r>
                      <a:r>
                        <a:rPr lang="en-IN" sz="1400" dirty="0" err="1"/>
                        <a:t>Bargal</a:t>
                      </a:r>
                      <a:r>
                        <a:rPr lang="en-IN" sz="1400" dirty="0"/>
                        <a:t>, Kate </a:t>
                      </a:r>
                      <a:r>
                        <a:rPr lang="en-IN" sz="1400" dirty="0" err="1"/>
                        <a:t>Saenko</a:t>
                      </a:r>
                      <a:r>
                        <a:rPr lang="en-IN" sz="1400" dirty="0"/>
                        <a:t>, Daehan Kim, </a:t>
                      </a:r>
                      <a:r>
                        <a:rPr lang="en-IN" sz="1400" dirty="0" err="1"/>
                        <a:t>Minseok</a:t>
                      </a:r>
                      <a:r>
                        <a:rPr lang="en-IN" sz="1400" dirty="0"/>
                        <a:t> Seo/2023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err="1"/>
                        <a:t>VisDA</a:t>
                      </a:r>
                      <a:r>
                        <a:rPr lang="en-IN" sz="1400" dirty="0"/>
                        <a:t> Challenge: Domain Adaptation for Industrial Waste Sorting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The </a:t>
                      </a:r>
                      <a:r>
                        <a:rPr lang="en-US" sz="1400" dirty="0" err="1"/>
                        <a:t>VisDA</a:t>
                      </a:r>
                      <a:r>
                        <a:rPr lang="en-US" sz="1400" dirty="0"/>
                        <a:t> 2022 Challenge focused on domain adaptation techniques for industrial waste sorting. The challenge aimed to improve the performance of deep learning models in classifying industrial waste by addressing domain shifts.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solidFill>
                            <a:schemeClr val="tx1"/>
                          </a:solidFill>
                          <a:latin typeface="Times New Roman" panose="02020603050405020304" pitchFamily="18" charset="0"/>
                          <a:cs typeface="Times New Roman" panose="02020603050405020304" pitchFamily="18" charset="0"/>
                        </a:rPr>
                        <a:t>Adv:-</a:t>
                      </a:r>
                      <a:r>
                        <a:rPr lang="en-US" sz="1400" b="0" dirty="0">
                          <a:solidFill>
                            <a:schemeClr val="tx1"/>
                          </a:solidFill>
                        </a:rPr>
                        <a:t>Improves model performance on industrial waste by addressing domain shifts</a:t>
                      </a:r>
                      <a:r>
                        <a:rPr lang="en-US" sz="1400" dirty="0">
                          <a:solidFill>
                            <a:schemeClr val="tx1"/>
                          </a:solidFill>
                        </a:rPr>
                        <a:t>.</a:t>
                      </a:r>
                      <a:endParaRPr lang="en-US" sz="1400"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Dis:-</a:t>
                      </a:r>
                      <a:r>
                        <a:rPr lang="en-IN" sz="1400" b="0" dirty="0">
                          <a:solidFill>
                            <a:schemeClr val="tx1"/>
                          </a:solidFill>
                        </a:rPr>
                        <a:t>Requires large and diverse datasets for effective domain adaptation.</a:t>
                      </a:r>
                      <a:endParaRPr lang="en-US" sz="1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6060227"/>
                  </a:ext>
                </a:extLst>
              </a:tr>
            </a:tbl>
          </a:graphicData>
        </a:graphic>
      </p:graphicFrame>
    </p:spTree>
    <p:extLst>
      <p:ext uri="{BB962C8B-B14F-4D97-AF65-F5344CB8AC3E}">
        <p14:creationId xmlns:p14="http://schemas.microsoft.com/office/powerpoint/2010/main" val="982089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AD79E-A9AB-814D-4768-AB213FC36034}"/>
              </a:ext>
            </a:extLst>
          </p:cNvPr>
          <p:cNvSpPr>
            <a:spLocks noGrp="1"/>
          </p:cNvSpPr>
          <p:nvPr>
            <p:ph type="sldNum" sz="quarter" idx="12"/>
          </p:nvPr>
        </p:nvSpPr>
        <p:spPr/>
        <p:txBody>
          <a:bodyPr/>
          <a:lstStyle/>
          <a:p>
            <a:pPr>
              <a:defRPr/>
            </a:pPr>
            <a:fld id="{DA6FD02F-D3CD-4E4F-800F-75D2C3ECA6E5}" type="slidenum">
              <a:rPr lang="en-US" smtClean="0"/>
              <a:pPr>
                <a:defRPr/>
              </a:pPr>
              <a:t>8</a:t>
            </a:fld>
            <a:endParaRPr lang="en-US" dirty="0"/>
          </a:p>
        </p:txBody>
      </p:sp>
      <p:graphicFrame>
        <p:nvGraphicFramePr>
          <p:cNvPr id="3" name="Table 2">
            <a:extLst>
              <a:ext uri="{FF2B5EF4-FFF2-40B4-BE49-F238E27FC236}">
                <a16:creationId xmlns:a16="http://schemas.microsoft.com/office/drawing/2014/main" id="{AF4780A8-8D9E-0DAF-B9A8-1AA79509C9CB}"/>
              </a:ext>
            </a:extLst>
          </p:cNvPr>
          <p:cNvGraphicFramePr>
            <a:graphicFrameLocks noGrp="1"/>
          </p:cNvGraphicFramePr>
          <p:nvPr>
            <p:extLst>
              <p:ext uri="{D42A27DB-BD31-4B8C-83A1-F6EECF244321}">
                <p14:modId xmlns:p14="http://schemas.microsoft.com/office/powerpoint/2010/main" val="3547787034"/>
              </p:ext>
            </p:extLst>
          </p:nvPr>
        </p:nvGraphicFramePr>
        <p:xfrm>
          <a:off x="381000" y="792480"/>
          <a:ext cx="11429999" cy="5289045"/>
        </p:xfrm>
        <a:graphic>
          <a:graphicData uri="http://schemas.openxmlformats.org/drawingml/2006/table">
            <a:tbl>
              <a:tblPr firstRow="1" bandRow="1">
                <a:tableStyleId>{5C22544A-7EE6-4342-B048-85BDC9FD1C3A}</a:tableStyleId>
              </a:tblPr>
              <a:tblGrid>
                <a:gridCol w="2837233">
                  <a:extLst>
                    <a:ext uri="{9D8B030D-6E8A-4147-A177-3AD203B41FA5}">
                      <a16:colId xmlns:a16="http://schemas.microsoft.com/office/drawing/2014/main" val="4267628798"/>
                    </a:ext>
                  </a:extLst>
                </a:gridCol>
                <a:gridCol w="2918297">
                  <a:extLst>
                    <a:ext uri="{9D8B030D-6E8A-4147-A177-3AD203B41FA5}">
                      <a16:colId xmlns:a16="http://schemas.microsoft.com/office/drawing/2014/main" val="200567741"/>
                    </a:ext>
                  </a:extLst>
                </a:gridCol>
                <a:gridCol w="2350850">
                  <a:extLst>
                    <a:ext uri="{9D8B030D-6E8A-4147-A177-3AD203B41FA5}">
                      <a16:colId xmlns:a16="http://schemas.microsoft.com/office/drawing/2014/main" val="536139249"/>
                    </a:ext>
                  </a:extLst>
                </a:gridCol>
                <a:gridCol w="3323619">
                  <a:extLst>
                    <a:ext uri="{9D8B030D-6E8A-4147-A177-3AD203B41FA5}">
                      <a16:colId xmlns:a16="http://schemas.microsoft.com/office/drawing/2014/main" val="3275517593"/>
                    </a:ext>
                  </a:extLst>
                </a:gridCol>
              </a:tblGrid>
              <a:tr h="6088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Author/Year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Title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Methodology</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Advantages and Disadvantages</a:t>
                      </a:r>
                    </a:p>
                    <a:p>
                      <a:endParaRPr lang="en-IN" dirty="0"/>
                    </a:p>
                  </a:txBody>
                  <a:tcPr/>
                </a:tc>
                <a:extLst>
                  <a:ext uri="{0D108BD9-81ED-4DB2-BD59-A6C34878D82A}">
                    <a16:rowId xmlns:a16="http://schemas.microsoft.com/office/drawing/2014/main" val="3866926815"/>
                  </a:ext>
                </a:extLst>
              </a:tr>
              <a:tr h="2421916">
                <a:tc>
                  <a:txBody>
                    <a:bodyPr/>
                    <a:lstStyle/>
                    <a:p>
                      <a:r>
                        <a:rPr lang="en-IN" sz="1400" dirty="0"/>
                        <a:t>Md. Shahariar Nafiz, </a:t>
                      </a:r>
                      <a:r>
                        <a:rPr lang="en-IN" sz="1400" dirty="0" err="1"/>
                        <a:t>Shuvra</a:t>
                      </a:r>
                      <a:r>
                        <a:rPr lang="en-IN" sz="1400" dirty="0"/>
                        <a:t> Smaran Das, Md. Kishor </a:t>
                      </a:r>
                      <a:r>
                        <a:rPr lang="en-IN" sz="1400" dirty="0" err="1"/>
                        <a:t>Morol</a:t>
                      </a:r>
                      <a:r>
                        <a:rPr lang="en-IN" sz="1400" dirty="0"/>
                        <a:t>, Abdullah Al </a:t>
                      </a:r>
                      <a:r>
                        <a:rPr lang="en-IN" sz="1400" dirty="0" err="1"/>
                        <a:t>Juabir</a:t>
                      </a:r>
                      <a:r>
                        <a:rPr lang="en-IN" sz="1400" dirty="0"/>
                        <a:t>, Dip Nandi</a:t>
                      </a:r>
                      <a:r>
                        <a:rPr lang="en-IN" sz="1400" dirty="0">
                          <a:latin typeface="Times New Roman" panose="02020603050405020304" pitchFamily="18" charset="0"/>
                          <a:cs typeface="Times New Roman" panose="02020603050405020304" pitchFamily="18" charset="0"/>
                        </a:rPr>
                        <a:t>/2023</a:t>
                      </a:r>
                    </a:p>
                  </a:txBody>
                  <a:tcPr/>
                </a:tc>
                <a:tc>
                  <a:txBody>
                    <a:bodyPr/>
                    <a:lstStyle/>
                    <a:p>
                      <a:r>
                        <a:rPr lang="en-US" sz="1400" b="0" dirty="0" err="1"/>
                        <a:t>ConvoWaste</a:t>
                      </a:r>
                      <a:r>
                        <a:rPr lang="en-US" sz="1400" b="0" dirty="0"/>
                        <a:t>: An Automatic Waste Segregation Machine Using Deep Learning</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t>This research introduces </a:t>
                      </a:r>
                      <a:r>
                        <a:rPr lang="en-US" sz="1400" dirty="0" err="1"/>
                        <a:t>ConvoWaste</a:t>
                      </a:r>
                      <a:r>
                        <a:rPr lang="en-US" sz="1400" dirty="0"/>
                        <a:t>, an automatic waste segregation machine that employs deep learning techniques for waste classification. The system achieved high accuracy and aims to contribute to sustainable waste management practices.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1" dirty="0">
                          <a:solidFill>
                            <a:schemeClr val="tx1"/>
                          </a:solidFill>
                          <a:latin typeface="Times New Roman" panose="02020603050405020304" pitchFamily="18" charset="0"/>
                          <a:cs typeface="Times New Roman" panose="02020603050405020304" pitchFamily="18" charset="0"/>
                        </a:rPr>
                        <a:t>Adv: </a:t>
                      </a:r>
                      <a:r>
                        <a:rPr lang="en-US" sz="1400" b="0" dirty="0">
                          <a:solidFill>
                            <a:schemeClr val="tx1"/>
                          </a:solidFill>
                        </a:rPr>
                        <a:t>Automates waste segregation using deep learning, reducing manual labor. High classification accuracy, improving recycling efficiency.</a:t>
                      </a:r>
                      <a:endParaRPr lang="en-IN" sz="1400" dirty="0">
                        <a:solidFill>
                          <a:schemeClr val="tx1"/>
                        </a:solidFill>
                        <a:latin typeface="Times New Roman" panose="02020603050405020304" pitchFamily="18" charset="0"/>
                        <a:cs typeface="Times New Roman" panose="02020603050405020304" pitchFamily="18" charset="0"/>
                      </a:endParaRPr>
                    </a:p>
                    <a:p>
                      <a:r>
                        <a:rPr lang="en-IN" sz="1400" b="1" dirty="0">
                          <a:solidFill>
                            <a:schemeClr val="tx1"/>
                          </a:solidFill>
                          <a:latin typeface="Times New Roman" panose="02020603050405020304" pitchFamily="18" charset="0"/>
                          <a:cs typeface="Times New Roman" panose="02020603050405020304" pitchFamily="18" charset="0"/>
                        </a:rPr>
                        <a:t>Dis</a:t>
                      </a:r>
                      <a:r>
                        <a:rPr lang="en-IN" sz="1400" b="0" dirty="0">
                          <a:solidFill>
                            <a:schemeClr val="tx1"/>
                          </a:solidFill>
                          <a:latin typeface="Times New Roman" panose="02020603050405020304" pitchFamily="18" charset="0"/>
                          <a:cs typeface="Times New Roman" panose="02020603050405020304" pitchFamily="18" charset="0"/>
                        </a:rPr>
                        <a:t>: </a:t>
                      </a:r>
                      <a:r>
                        <a:rPr lang="en-US" sz="1400" b="0" dirty="0">
                          <a:solidFill>
                            <a:schemeClr val="tx1"/>
                          </a:solidFill>
                        </a:rPr>
                        <a:t>Requires substantial computational resources for real-time operation. High initial setup cost for AI hardware and sensors.</a:t>
                      </a:r>
                    </a:p>
                    <a:p>
                      <a:endParaRPr lang="en-IN" sz="1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4318585"/>
                  </a:ext>
                </a:extLst>
              </a:tr>
              <a:tr h="2227049">
                <a:tc>
                  <a:txBody>
                    <a:bodyPr/>
                    <a:lstStyle/>
                    <a:p>
                      <a:r>
                        <a:rPr lang="en-IN" sz="1400" dirty="0" err="1"/>
                        <a:t>Niful</a:t>
                      </a:r>
                      <a:r>
                        <a:rPr lang="en-IN" sz="1400" dirty="0"/>
                        <a:t> Islam, Md. Mehedi Hasan Jony, Emam Hasan, Sunny Sutradhar, Atikur Rahman, Md. </a:t>
                      </a:r>
                      <a:r>
                        <a:rPr lang="en-IN" sz="1400" dirty="0" err="1"/>
                        <a:t>Motaharul</a:t>
                      </a:r>
                      <a:r>
                        <a:rPr lang="en-IN" sz="1400" dirty="0"/>
                        <a:t> Islam</a:t>
                      </a:r>
                      <a:r>
                        <a:rPr lang="en-IN" sz="1400" dirty="0">
                          <a:latin typeface="Times New Roman" panose="02020603050405020304" pitchFamily="18" charset="0"/>
                          <a:cs typeface="Times New Roman" panose="02020603050405020304" pitchFamily="18" charset="0"/>
                        </a:rPr>
                        <a:t>/2023</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err="1"/>
                        <a:t>EWasteNet</a:t>
                      </a:r>
                      <a:r>
                        <a:rPr lang="en-US" sz="1400" dirty="0"/>
                        <a:t>: A Two-Stream Data Efficient Image Transformer Approach for E-Waste Classification</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his study introduces </a:t>
                      </a:r>
                      <a:r>
                        <a:rPr lang="en-US" sz="1400" dirty="0" err="1"/>
                        <a:t>EWasteNet</a:t>
                      </a:r>
                      <a:r>
                        <a:rPr lang="en-US" sz="1400" dirty="0"/>
                        <a:t>, a two-stream data-efficient image transformer approach for precise e-waste image classification. The model achieved 96% accuracy, facilitating efficient e-waste management and recycling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1" dirty="0">
                          <a:solidFill>
                            <a:schemeClr val="tx1"/>
                          </a:solidFill>
                          <a:latin typeface="Times New Roman" panose="02020603050405020304" pitchFamily="18" charset="0"/>
                          <a:cs typeface="Times New Roman" panose="02020603050405020304" pitchFamily="18" charset="0"/>
                        </a:rPr>
                        <a:t>Adv:-</a:t>
                      </a:r>
                      <a:r>
                        <a:rPr lang="en-US" sz="1400" b="0" dirty="0">
                          <a:solidFill>
                            <a:schemeClr val="tx1"/>
                          </a:solidFill>
                        </a:rPr>
                        <a:t>High accuracy in classifying e-waste images using a transformer-based approach. Data-efficient, reducing the need for large training datasets</a:t>
                      </a:r>
                      <a:r>
                        <a:rPr lang="en-US" sz="1400" dirty="0">
                          <a:solidFill>
                            <a:schemeClr val="tx1"/>
                          </a:solidFill>
                        </a:rPr>
                        <a:t>.</a:t>
                      </a:r>
                    </a:p>
                    <a:p>
                      <a:r>
                        <a:rPr lang="en-US" sz="1400" b="1" dirty="0">
                          <a:solidFill>
                            <a:schemeClr val="tx1"/>
                          </a:solidFill>
                          <a:latin typeface="Times New Roman" panose="02020603050405020304" pitchFamily="18" charset="0"/>
                          <a:cs typeface="Times New Roman" panose="02020603050405020304" pitchFamily="18" charset="0"/>
                        </a:rPr>
                        <a:t>Dis:-</a:t>
                      </a:r>
                      <a:r>
                        <a:rPr lang="en-US" sz="1400" b="0" dirty="0">
                          <a:solidFill>
                            <a:schemeClr val="tx1"/>
                          </a:solidFill>
                        </a:rPr>
                        <a:t>Transformer models require high computational power, especially for training. Performance may drop with poor-quality or occluded images.</a:t>
                      </a:r>
                    </a:p>
                    <a:p>
                      <a:endParaRPr lang="en-IN" sz="1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7916318"/>
                  </a:ext>
                </a:extLst>
              </a:tr>
            </a:tbl>
          </a:graphicData>
        </a:graphic>
      </p:graphicFrame>
    </p:spTree>
    <p:extLst>
      <p:ext uri="{BB962C8B-B14F-4D97-AF65-F5344CB8AC3E}">
        <p14:creationId xmlns:p14="http://schemas.microsoft.com/office/powerpoint/2010/main" val="1715486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8FAD3B-A663-B298-A2FD-DFAFAC51A839}"/>
              </a:ext>
            </a:extLst>
          </p:cNvPr>
          <p:cNvSpPr>
            <a:spLocks noGrp="1"/>
          </p:cNvSpPr>
          <p:nvPr>
            <p:ph type="sldNum" sz="quarter" idx="12"/>
          </p:nvPr>
        </p:nvSpPr>
        <p:spPr/>
        <p:txBody>
          <a:bodyPr/>
          <a:lstStyle/>
          <a:p>
            <a:pPr>
              <a:defRPr/>
            </a:pPr>
            <a:fld id="{DA6FD02F-D3CD-4E4F-800F-75D2C3ECA6E5}" type="slidenum">
              <a:rPr lang="en-US" smtClean="0"/>
              <a:pPr>
                <a:defRPr/>
              </a:pPr>
              <a:t>9</a:t>
            </a:fld>
            <a:endParaRPr lang="en-US" dirty="0"/>
          </a:p>
        </p:txBody>
      </p:sp>
      <p:graphicFrame>
        <p:nvGraphicFramePr>
          <p:cNvPr id="5" name="Table 4">
            <a:extLst>
              <a:ext uri="{FF2B5EF4-FFF2-40B4-BE49-F238E27FC236}">
                <a16:creationId xmlns:a16="http://schemas.microsoft.com/office/drawing/2014/main" id="{09CB8FFA-B532-15D6-C63F-58D5E193D2B1}"/>
              </a:ext>
            </a:extLst>
          </p:cNvPr>
          <p:cNvGraphicFramePr>
            <a:graphicFrameLocks noGrp="1"/>
          </p:cNvGraphicFramePr>
          <p:nvPr>
            <p:extLst>
              <p:ext uri="{D42A27DB-BD31-4B8C-83A1-F6EECF244321}">
                <p14:modId xmlns:p14="http://schemas.microsoft.com/office/powerpoint/2010/main" val="2890147825"/>
              </p:ext>
            </p:extLst>
          </p:nvPr>
        </p:nvGraphicFramePr>
        <p:xfrm>
          <a:off x="191344" y="764704"/>
          <a:ext cx="11506201" cy="4995841"/>
        </p:xfrm>
        <a:graphic>
          <a:graphicData uri="http://schemas.openxmlformats.org/drawingml/2006/table">
            <a:tbl>
              <a:tblPr firstRow="1" bandRow="1">
                <a:tableStyleId>{5C22544A-7EE6-4342-B048-85BDC9FD1C3A}</a:tableStyleId>
              </a:tblPr>
              <a:tblGrid>
                <a:gridCol w="3021035">
                  <a:extLst>
                    <a:ext uri="{9D8B030D-6E8A-4147-A177-3AD203B41FA5}">
                      <a16:colId xmlns:a16="http://schemas.microsoft.com/office/drawing/2014/main" val="1894903011"/>
                    </a:ext>
                  </a:extLst>
                </a:gridCol>
                <a:gridCol w="1803501">
                  <a:extLst>
                    <a:ext uri="{9D8B030D-6E8A-4147-A177-3AD203B41FA5}">
                      <a16:colId xmlns:a16="http://schemas.microsoft.com/office/drawing/2014/main" val="3908297710"/>
                    </a:ext>
                  </a:extLst>
                </a:gridCol>
                <a:gridCol w="2399677">
                  <a:extLst>
                    <a:ext uri="{9D8B030D-6E8A-4147-A177-3AD203B41FA5}">
                      <a16:colId xmlns:a16="http://schemas.microsoft.com/office/drawing/2014/main" val="1234212737"/>
                    </a:ext>
                  </a:extLst>
                </a:gridCol>
                <a:gridCol w="4281988">
                  <a:extLst>
                    <a:ext uri="{9D8B030D-6E8A-4147-A177-3AD203B41FA5}">
                      <a16:colId xmlns:a16="http://schemas.microsoft.com/office/drawing/2014/main" val="1524155648"/>
                    </a:ext>
                  </a:extLst>
                </a:gridCol>
              </a:tblGrid>
              <a:tr h="5557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Author/Year</a:t>
                      </a:r>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Title</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Methodology</a:t>
                      </a:r>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Advantages and Disadvantages</a:t>
                      </a:r>
                    </a:p>
                    <a:p>
                      <a:endParaRPr lang="en-IN" sz="1400" dirty="0"/>
                    </a:p>
                  </a:txBody>
                  <a:tcPr/>
                </a:tc>
                <a:extLst>
                  <a:ext uri="{0D108BD9-81ED-4DB2-BD59-A6C34878D82A}">
                    <a16:rowId xmlns:a16="http://schemas.microsoft.com/office/drawing/2014/main" val="2492082895"/>
                  </a:ext>
                </a:extLst>
              </a:tr>
              <a:tr h="2511164">
                <a:tc>
                  <a:txBody>
                    <a:bodyPr/>
                    <a:lstStyle/>
                    <a:p>
                      <a:r>
                        <a:rPr lang="en-IN" sz="1400" dirty="0"/>
                        <a:t>Y. Song, </a:t>
                      </a:r>
                      <a:r>
                        <a:rPr lang="en-IN" sz="1400" dirty="0" err="1"/>
                        <a:t>Zhanshan</a:t>
                      </a:r>
                      <a:r>
                        <a:rPr lang="en-IN" sz="1400" dirty="0"/>
                        <a:t> Qiao/2024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DEEPBIN: Deep Learning Based Garbage Classification System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This research presents an intelligent IoT-based garbage bin system using sensors (humidity, temperature, gas, liquid) to monitor waste. It combines the Arithmetic Optimization Algorithm with Improved </a:t>
                      </a:r>
                      <a:r>
                        <a:rPr lang="en-IN" sz="1400" dirty="0" err="1"/>
                        <a:t>RefineDet</a:t>
                      </a:r>
                      <a:r>
                        <a:rPr lang="en-IN" sz="1400" dirty="0"/>
                        <a:t> for object detection and EfficientNet-B0 for classification waste management.</a:t>
                      </a:r>
                    </a:p>
                  </a:txBody>
                  <a:tcPr/>
                </a:tc>
                <a:tc>
                  <a:txBody>
                    <a:bodyPr/>
                    <a:lstStyle/>
                    <a:p>
                      <a:r>
                        <a:rPr lang="en-US" sz="1400" b="1" dirty="0">
                          <a:solidFill>
                            <a:schemeClr val="tx1"/>
                          </a:solidFill>
                          <a:latin typeface="Times New Roman" panose="02020603050405020304" pitchFamily="18" charset="0"/>
                          <a:cs typeface="Times New Roman" panose="02020603050405020304" pitchFamily="18" charset="0"/>
                        </a:rPr>
                        <a:t>Adv:</a:t>
                      </a:r>
                      <a:r>
                        <a:rPr lang="en-US" sz="1400" dirty="0">
                          <a:solidFill>
                            <a:schemeClr val="tx1"/>
                          </a:solidFill>
                          <a:latin typeface="Times New Roman" panose="02020603050405020304" pitchFamily="18" charset="0"/>
                          <a:cs typeface="Times New Roman" panose="02020603050405020304" pitchFamily="18" charset="0"/>
                        </a:rPr>
                        <a:t> </a:t>
                      </a:r>
                      <a:r>
                        <a:rPr lang="en-IN" sz="1400" b="0" dirty="0">
                          <a:solidFill>
                            <a:schemeClr val="tx1"/>
                          </a:solidFill>
                        </a:rPr>
                        <a:t>Accurately classifies waste using deep learning models like EfficientNet-B0.Integrates multiple sensors (humidity, temperature, gas, liquid) for intelligent detection.</a:t>
                      </a:r>
                    </a:p>
                    <a:p>
                      <a:r>
                        <a:rPr lang="en-US" sz="1400" b="1" dirty="0">
                          <a:solidFill>
                            <a:schemeClr val="tx1"/>
                          </a:solidFill>
                          <a:latin typeface="Times New Roman" panose="02020603050405020304" pitchFamily="18" charset="0"/>
                          <a:cs typeface="Times New Roman" panose="02020603050405020304" pitchFamily="18" charset="0"/>
                        </a:rPr>
                        <a:t>Dis: </a:t>
                      </a:r>
                      <a:r>
                        <a:rPr lang="en-US" sz="1400" b="0" dirty="0">
                          <a:solidFill>
                            <a:schemeClr val="tx1"/>
                          </a:solidFill>
                        </a:rPr>
                        <a:t>High computational requirements for real-time processing of images and sensor data .Implementation costs can be significant due to sensors and AI hardware.</a:t>
                      </a:r>
                    </a:p>
                    <a:p>
                      <a:endParaRPr lang="en-IN" sz="1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7634984"/>
                  </a:ext>
                </a:extLst>
              </a:tr>
              <a:tr h="1928894">
                <a:tc>
                  <a:txBody>
                    <a:bodyPr/>
                    <a:lstStyle/>
                    <a:p>
                      <a:r>
                        <a:rPr lang="en-IN" sz="1400" dirty="0">
                          <a:latin typeface="Times New Roman" panose="02020603050405020304" pitchFamily="18" charset="0"/>
                          <a:cs typeface="Times New Roman" panose="02020603050405020304" pitchFamily="18" charset="0"/>
                        </a:rPr>
                        <a:t> </a:t>
                      </a:r>
                      <a:r>
                        <a:rPr lang="en-IN" sz="1400" dirty="0"/>
                        <a:t>Everest Z. Kuang, Kushal Raj Bhandari, </a:t>
                      </a:r>
                      <a:r>
                        <a:rPr lang="en-IN" sz="1400" dirty="0" err="1"/>
                        <a:t>Jianxi</a:t>
                      </a:r>
                      <a:r>
                        <a:rPr lang="en-IN" sz="1400" dirty="0"/>
                        <a:t> Gao/2024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Optimizing Waste Management with Advanced Object Detection for Garbage Classification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AI models for classifying trash through object detection, specifically focusing on using YOLO V5 for training and testing. The study demonstrates how can effectively identify various waste.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1" dirty="0">
                          <a:solidFill>
                            <a:schemeClr val="tx1"/>
                          </a:solidFill>
                          <a:latin typeface="Times New Roman" panose="02020603050405020304" pitchFamily="18" charset="0"/>
                          <a:cs typeface="Times New Roman" panose="02020603050405020304" pitchFamily="18" charset="0"/>
                        </a:rPr>
                        <a:t>Adv:</a:t>
                      </a:r>
                      <a:r>
                        <a:rPr lang="en-US" sz="1400" b="0" dirty="0">
                          <a:solidFill>
                            <a:schemeClr val="tx1"/>
                          </a:solidFill>
                        </a:rPr>
                        <a:t>High accuracy in detecting multiple types of waste using YOLO V5 object detection Real-time classification supports faster waste sorting.</a:t>
                      </a:r>
                    </a:p>
                    <a:p>
                      <a:r>
                        <a:rPr lang="en-US" sz="1400" b="1" dirty="0">
                          <a:solidFill>
                            <a:schemeClr val="tx1"/>
                          </a:solidFill>
                          <a:latin typeface="Times New Roman" panose="02020603050405020304" pitchFamily="18" charset="0"/>
                          <a:cs typeface="Times New Roman" panose="02020603050405020304" pitchFamily="18" charset="0"/>
                        </a:rPr>
                        <a:t>Dis: </a:t>
                      </a:r>
                      <a:r>
                        <a:rPr lang="en-US" sz="1400" b="0" dirty="0">
                          <a:solidFill>
                            <a:schemeClr val="tx1"/>
                          </a:solidFill>
                        </a:rPr>
                        <a:t>Requires significant computational resources for training and real-time detection. Performance may drop in poor lighting or cluttered environments.</a:t>
                      </a:r>
                    </a:p>
                    <a:p>
                      <a:endParaRPr lang="en-US" sz="1400" b="0" dirty="0">
                        <a:solidFill>
                          <a:srgbClr val="FF0000"/>
                        </a:solidFill>
                      </a:endParaRPr>
                    </a:p>
                    <a:p>
                      <a:endParaRPr lang="en-IN" sz="1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8146710"/>
                  </a:ext>
                </a:extLst>
              </a:tr>
            </a:tbl>
          </a:graphicData>
        </a:graphic>
      </p:graphicFrame>
    </p:spTree>
    <p:extLst>
      <p:ext uri="{BB962C8B-B14F-4D97-AF65-F5344CB8AC3E}">
        <p14:creationId xmlns:p14="http://schemas.microsoft.com/office/powerpoint/2010/main" val="3260579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52DFB-A097-2781-88E5-52679D62E8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6B813D-365F-AC25-E559-7D4357B5267E}"/>
              </a:ext>
            </a:extLst>
          </p:cNvPr>
          <p:cNvSpPr>
            <a:spLocks noGrp="1"/>
          </p:cNvSpPr>
          <p:nvPr>
            <p:ph type="sldNum" sz="quarter" idx="12"/>
          </p:nvPr>
        </p:nvSpPr>
        <p:spPr/>
        <p:txBody>
          <a:bodyPr/>
          <a:lstStyle/>
          <a:p>
            <a:pPr>
              <a:defRPr/>
            </a:pPr>
            <a:fld id="{DA6FD02F-D3CD-4E4F-800F-75D2C3ECA6E5}" type="slidenum">
              <a:rPr lang="en-US" smtClean="0"/>
              <a:pPr>
                <a:defRPr/>
              </a:pPr>
              <a:t>10</a:t>
            </a:fld>
            <a:endParaRPr lang="en-US" dirty="0"/>
          </a:p>
        </p:txBody>
      </p:sp>
      <p:graphicFrame>
        <p:nvGraphicFramePr>
          <p:cNvPr id="5" name="Table 4">
            <a:extLst>
              <a:ext uri="{FF2B5EF4-FFF2-40B4-BE49-F238E27FC236}">
                <a16:creationId xmlns:a16="http://schemas.microsoft.com/office/drawing/2014/main" id="{4855BA1C-3927-4769-A1CC-6C8AA7B43E19}"/>
              </a:ext>
            </a:extLst>
          </p:cNvPr>
          <p:cNvGraphicFramePr>
            <a:graphicFrameLocks noGrp="1"/>
          </p:cNvGraphicFramePr>
          <p:nvPr>
            <p:extLst>
              <p:ext uri="{D42A27DB-BD31-4B8C-83A1-F6EECF244321}">
                <p14:modId xmlns:p14="http://schemas.microsoft.com/office/powerpoint/2010/main" val="401743030"/>
              </p:ext>
            </p:extLst>
          </p:nvPr>
        </p:nvGraphicFramePr>
        <p:xfrm>
          <a:off x="342899" y="764704"/>
          <a:ext cx="11506201" cy="5472607"/>
        </p:xfrm>
        <a:graphic>
          <a:graphicData uri="http://schemas.openxmlformats.org/drawingml/2006/table">
            <a:tbl>
              <a:tblPr firstRow="1" bandRow="1">
                <a:tableStyleId>{5C22544A-7EE6-4342-B048-85BDC9FD1C3A}</a:tableStyleId>
              </a:tblPr>
              <a:tblGrid>
                <a:gridCol w="3021035">
                  <a:extLst>
                    <a:ext uri="{9D8B030D-6E8A-4147-A177-3AD203B41FA5}">
                      <a16:colId xmlns:a16="http://schemas.microsoft.com/office/drawing/2014/main" val="1894903011"/>
                    </a:ext>
                  </a:extLst>
                </a:gridCol>
                <a:gridCol w="2101589">
                  <a:extLst>
                    <a:ext uri="{9D8B030D-6E8A-4147-A177-3AD203B41FA5}">
                      <a16:colId xmlns:a16="http://schemas.microsoft.com/office/drawing/2014/main" val="3908297710"/>
                    </a:ext>
                  </a:extLst>
                </a:gridCol>
                <a:gridCol w="2101589">
                  <a:extLst>
                    <a:ext uri="{9D8B030D-6E8A-4147-A177-3AD203B41FA5}">
                      <a16:colId xmlns:a16="http://schemas.microsoft.com/office/drawing/2014/main" val="1234212737"/>
                    </a:ext>
                  </a:extLst>
                </a:gridCol>
                <a:gridCol w="4281988">
                  <a:extLst>
                    <a:ext uri="{9D8B030D-6E8A-4147-A177-3AD203B41FA5}">
                      <a16:colId xmlns:a16="http://schemas.microsoft.com/office/drawing/2014/main" val="1524155648"/>
                    </a:ext>
                  </a:extLst>
                </a:gridCol>
              </a:tblGrid>
              <a:tr h="525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Author/Year</a:t>
                      </a:r>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Title</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Methodology</a:t>
                      </a:r>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Advantages and Disadvantages</a:t>
                      </a:r>
                    </a:p>
                    <a:p>
                      <a:endParaRPr lang="en-IN" sz="1400" dirty="0"/>
                    </a:p>
                  </a:txBody>
                  <a:tcPr/>
                </a:tc>
                <a:extLst>
                  <a:ext uri="{0D108BD9-81ED-4DB2-BD59-A6C34878D82A}">
                    <a16:rowId xmlns:a16="http://schemas.microsoft.com/office/drawing/2014/main" val="2492082895"/>
                  </a:ext>
                </a:extLst>
              </a:tr>
              <a:tr h="2257064">
                <a:tc>
                  <a:txBody>
                    <a:bodyPr/>
                    <a:lstStyle/>
                    <a:p>
                      <a:r>
                        <a:rPr lang="en-IN" sz="1400" dirty="0"/>
                        <a:t>Abdullah </a:t>
                      </a:r>
                      <a:r>
                        <a:rPr lang="en-IN" sz="1400" dirty="0" err="1"/>
                        <a:t>Alourani</a:t>
                      </a:r>
                      <a:r>
                        <a:rPr lang="en-IN" sz="1400" dirty="0"/>
                        <a:t>, M. Usman Ashraf, Mohammed </a:t>
                      </a:r>
                      <a:r>
                        <a:rPr lang="en-IN" sz="1400" dirty="0" err="1"/>
                        <a:t>Aloraini</a:t>
                      </a:r>
                      <a:r>
                        <a:rPr lang="en-IN" sz="1400" dirty="0"/>
                        <a:t>/2025</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Smart Waste Management and Classification System Using Advanced IoT and AI Technologies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This study presents an intelligent solid waste management system integrating IoT and AI technologies for smart collection and segregation, aiming to improve waste management efficiency and sustainability. </a:t>
                      </a:r>
                      <a:endParaRPr lang="en-IN" sz="1400" dirty="0"/>
                    </a:p>
                  </a:txBody>
                  <a:tcPr/>
                </a:tc>
                <a:tc>
                  <a:txBody>
                    <a:bodyPr/>
                    <a:lstStyle/>
                    <a:p>
                      <a:r>
                        <a:rPr lang="en-US" sz="1400" b="1" dirty="0">
                          <a:latin typeface="Times New Roman" panose="02020603050405020304" pitchFamily="18" charset="0"/>
                          <a:cs typeface="Times New Roman" panose="02020603050405020304" pitchFamily="18" charset="0"/>
                        </a:rPr>
                        <a:t>Adv:</a:t>
                      </a:r>
                      <a:r>
                        <a:rPr lang="en-US" sz="1400" dirty="0">
                          <a:latin typeface="Times New Roman" panose="02020603050405020304" pitchFamily="18" charset="0"/>
                          <a:cs typeface="Times New Roman" panose="02020603050405020304" pitchFamily="18" charset="0"/>
                        </a:rPr>
                        <a:t> </a:t>
                      </a:r>
                      <a:r>
                        <a:rPr lang="en-US" sz="1400" b="0" dirty="0"/>
                        <a:t>Enables real-time monitoring of waste levels using IoT sensors. Automates waste classification with AI, reducing human intervention.</a:t>
                      </a:r>
                    </a:p>
                    <a:p>
                      <a:r>
                        <a:rPr lang="en-US" sz="1400" b="1" dirty="0">
                          <a:latin typeface="Times New Roman" panose="02020603050405020304" pitchFamily="18" charset="0"/>
                          <a:cs typeface="Times New Roman" panose="02020603050405020304" pitchFamily="18" charset="0"/>
                        </a:rPr>
                        <a:t>Dis: </a:t>
                      </a:r>
                      <a:r>
                        <a:rPr lang="en-US" sz="1400" b="0" dirty="0"/>
                        <a:t>High initial setup cost for sensors, smart bins, and AI systems. System maintenance and updates may require technical expertise. Dependent on stable network connectivity for IoT device communication.</a:t>
                      </a:r>
                    </a:p>
                    <a:p>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7634984"/>
                  </a:ext>
                </a:extLst>
              </a:tr>
              <a:tr h="2689925">
                <a:tc>
                  <a:txBody>
                    <a:bodyPr/>
                    <a:lstStyle/>
                    <a:p>
                      <a:r>
                        <a:rPr lang="en-IN" sz="1400" dirty="0">
                          <a:latin typeface="Times New Roman" panose="02020603050405020304" pitchFamily="18" charset="0"/>
                          <a:cs typeface="Times New Roman" panose="02020603050405020304" pitchFamily="18" charset="0"/>
                        </a:rPr>
                        <a:t> </a:t>
                      </a:r>
                      <a:r>
                        <a:rPr lang="en-IN" sz="1400" dirty="0"/>
                        <a:t>N.B.M. Ishaque, M. Mollah, M. Rahman, S. Bhuiyan/2025</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An Intelligent Deep Learning-Based Classification with Vehicle Routing (IDLCVR-MSW) System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a:t>
                      </a:r>
                      <a:r>
                        <a:rPr lang="en-US" sz="1400" dirty="0"/>
                        <a:t>his study presents an Intelligent Deep Learning-driven Classification with Vehicle Routing system to enhance waste classification accuracy and optimize waste collection routes. The system integrates deep learning models for waste categorization and vehicle routing algorithms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Adv:</a:t>
                      </a:r>
                      <a:r>
                        <a:rPr lang="en-US" sz="1400" dirty="0">
                          <a:latin typeface="Times New Roman" panose="02020603050405020304" pitchFamily="18" charset="0"/>
                          <a:cs typeface="Times New Roman" panose="02020603050405020304" pitchFamily="18" charset="0"/>
                        </a:rPr>
                        <a:t> </a:t>
                      </a:r>
                      <a:r>
                        <a:rPr lang="en-US" sz="1400" b="0" dirty="0"/>
                        <a:t>Improves waste classification accuracy using deep learning models .Optimizes waste collection routes, reducing time and operational costs.</a:t>
                      </a:r>
                    </a:p>
                    <a:p>
                      <a:r>
                        <a:rPr lang="en-US" sz="1400" b="1" dirty="0">
                          <a:latin typeface="Times New Roman" panose="02020603050405020304" pitchFamily="18" charset="0"/>
                          <a:cs typeface="Times New Roman" panose="02020603050405020304" pitchFamily="18" charset="0"/>
                        </a:rPr>
                        <a:t>Dis: </a:t>
                      </a:r>
                      <a:r>
                        <a:rPr lang="en-US" sz="1400" b="0" dirty="0"/>
                        <a:t>Requires high computational resources for real-time processing. Implementation cost can be high due to integration of AI and routing systems.</a:t>
                      </a:r>
                      <a:r>
                        <a:rPr lang="en-US" sz="1400" b="1" dirty="0"/>
                        <a:t> </a:t>
                      </a:r>
                      <a:r>
                        <a:rPr lang="en-US" sz="1400" b="0" dirty="0"/>
                        <a:t>Dependent on quality and volume of training data for accurate classification.</a:t>
                      </a:r>
                    </a:p>
                    <a:p>
                      <a:r>
                        <a:rPr lang="en-IN" sz="1400" b="0" dirty="0">
                          <a:latin typeface="Times New Roman" panose="02020603050405020304" pitchFamily="18" charset="0"/>
                          <a:cs typeface="Times New Roman" panose="02020603050405020304" pitchFamily="18" charset="0"/>
                        </a:rPr>
                        <a:t> </a:t>
                      </a:r>
                      <a:endParaRPr lang="en-US" sz="1400" dirty="0"/>
                    </a:p>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8146710"/>
                  </a:ext>
                </a:extLst>
              </a:tr>
            </a:tbl>
          </a:graphicData>
        </a:graphic>
      </p:graphicFrame>
    </p:spTree>
    <p:extLst>
      <p:ext uri="{BB962C8B-B14F-4D97-AF65-F5344CB8AC3E}">
        <p14:creationId xmlns:p14="http://schemas.microsoft.com/office/powerpoint/2010/main" val="3544319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304C1-BA57-0CA3-0764-6E3E89956BB0}"/>
              </a:ext>
            </a:extLst>
          </p:cNvPr>
          <p:cNvSpPr>
            <a:spLocks noGrp="1"/>
          </p:cNvSpPr>
          <p:nvPr>
            <p:ph type="title"/>
          </p:nvPr>
        </p:nvSpPr>
        <p:spPr/>
        <p:txBody>
          <a:bodyPr/>
          <a:lstStyle/>
          <a:p>
            <a:r>
              <a:rPr lang="en-US" dirty="0"/>
              <a:t>Objectives </a:t>
            </a:r>
            <a:endParaRPr lang="en-IN" dirty="0"/>
          </a:p>
        </p:txBody>
      </p:sp>
      <p:sp>
        <p:nvSpPr>
          <p:cNvPr id="3" name="Content Placeholder 2">
            <a:extLst>
              <a:ext uri="{FF2B5EF4-FFF2-40B4-BE49-F238E27FC236}">
                <a16:creationId xmlns:a16="http://schemas.microsoft.com/office/drawing/2014/main" id="{DDDEB4DC-2D9F-798D-9C28-AEF49AB227AD}"/>
              </a:ext>
            </a:extLst>
          </p:cNvPr>
          <p:cNvSpPr>
            <a:spLocks noGrp="1"/>
          </p:cNvSpPr>
          <p:nvPr>
            <p:ph idx="1"/>
          </p:nvPr>
        </p:nvSpPr>
        <p:spPr/>
        <p:txBody>
          <a:bodyPr>
            <a:normAutofit/>
          </a:bodyPr>
          <a:lstStyle/>
          <a:p>
            <a:r>
              <a:rPr lang="en-US" dirty="0"/>
              <a:t>Automated Segregation: To replace manual sorting with an automated system that uses Object Detection models to process mixed waste items in real-time. </a:t>
            </a:r>
          </a:p>
          <a:p>
            <a:r>
              <a:rPr lang="en-US" dirty="0"/>
              <a:t>Instant Classification: To provide immediate, object-level classification that identifies items as either "Recyclable" or "Non-Recyclable" to increase the purity of recycled material streams. </a:t>
            </a:r>
          </a:p>
          <a:p>
            <a:r>
              <a:rPr lang="en-US" dirty="0"/>
              <a:t>Reusability Scoring: To calculate a numerical "Reusability Score" for detected items based on their material type and condition, helping prioritize items for reuse or disposal. </a:t>
            </a:r>
          </a:p>
          <a:p>
            <a:pPr indent="0">
              <a:lnSpc>
                <a:spcPct val="120000"/>
              </a:lnSpc>
              <a:spcBef>
                <a:spcPts val="0"/>
              </a:spcBef>
              <a:buNone/>
            </a:pPr>
            <a:endParaRPr lang="en-US" dirty="0"/>
          </a:p>
          <a:p>
            <a:pPr indent="0">
              <a:lnSpc>
                <a:spcPct val="120000"/>
              </a:lnSpc>
              <a:spcBef>
                <a:spcPts val="0"/>
              </a:spcBef>
            </a:pPr>
            <a:endParaRPr lang="en-IN" dirty="0"/>
          </a:p>
        </p:txBody>
      </p:sp>
      <p:sp>
        <p:nvSpPr>
          <p:cNvPr id="4" name="Slide Number Placeholder 3">
            <a:extLst>
              <a:ext uri="{FF2B5EF4-FFF2-40B4-BE49-F238E27FC236}">
                <a16:creationId xmlns:a16="http://schemas.microsoft.com/office/drawing/2014/main" id="{618D7D5B-1F54-6A2A-C0A2-A27CD2B49F21}"/>
              </a:ext>
            </a:extLst>
          </p:cNvPr>
          <p:cNvSpPr>
            <a:spLocks noGrp="1"/>
          </p:cNvSpPr>
          <p:nvPr>
            <p:ph type="sldNum" sz="quarter" idx="12"/>
          </p:nvPr>
        </p:nvSpPr>
        <p:spPr/>
        <p:txBody>
          <a:bodyPr/>
          <a:lstStyle/>
          <a:p>
            <a:pPr>
              <a:defRPr/>
            </a:pPr>
            <a:fld id="{7567225B-3001-4770-81AD-EA67E82D7225}" type="slidenum">
              <a:rPr lang="en-US" smtClean="0"/>
              <a:pPr>
                <a:defRPr/>
              </a:pPr>
              <a:t>11</a:t>
            </a:fld>
            <a:endParaRPr lang="en-US" dirty="0"/>
          </a:p>
        </p:txBody>
      </p:sp>
    </p:spTree>
    <p:extLst>
      <p:ext uri="{BB962C8B-B14F-4D97-AF65-F5344CB8AC3E}">
        <p14:creationId xmlns:p14="http://schemas.microsoft.com/office/powerpoint/2010/main" val="413094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A4CD-A078-9F64-02A5-E15B582FA0FE}"/>
              </a:ext>
            </a:extLst>
          </p:cNvPr>
          <p:cNvSpPr>
            <a:spLocks noGrp="1"/>
          </p:cNvSpPr>
          <p:nvPr>
            <p:ph type="title"/>
          </p:nvPr>
        </p:nvSpPr>
        <p:spPr/>
        <p:txBody>
          <a:bodyPr/>
          <a:lstStyle/>
          <a:p>
            <a:r>
              <a:rPr lang="en-US" dirty="0"/>
              <a:t>Proposed methodology </a:t>
            </a:r>
            <a:endParaRPr lang="en-IN" dirty="0"/>
          </a:p>
        </p:txBody>
      </p:sp>
      <p:sp>
        <p:nvSpPr>
          <p:cNvPr id="3" name="Content Placeholder 2">
            <a:extLst>
              <a:ext uri="{FF2B5EF4-FFF2-40B4-BE49-F238E27FC236}">
                <a16:creationId xmlns:a16="http://schemas.microsoft.com/office/drawing/2014/main" id="{EA7C546B-A1E7-2666-FD64-7E6B4A2BD56A}"/>
              </a:ext>
            </a:extLst>
          </p:cNvPr>
          <p:cNvSpPr>
            <a:spLocks noGrp="1"/>
          </p:cNvSpPr>
          <p:nvPr>
            <p:ph idx="1"/>
          </p:nvPr>
        </p:nvSpPr>
        <p:spPr/>
        <p:txBody>
          <a:bodyPr>
            <a:normAutofit/>
          </a:bodyPr>
          <a:lstStyle/>
          <a:p>
            <a:r>
              <a:rPr lang="en-IN" dirty="0"/>
              <a:t> Step 1: Data Collection </a:t>
            </a:r>
          </a:p>
          <a:p>
            <a:r>
              <a:rPr lang="en-IN" dirty="0"/>
              <a:t> Step 2: Data Preprocessing</a:t>
            </a:r>
          </a:p>
          <a:p>
            <a:r>
              <a:rPr lang="en-IN" dirty="0"/>
              <a:t>Step 3: Model Selection &amp; Training</a:t>
            </a:r>
          </a:p>
          <a:p>
            <a:r>
              <a:rPr lang="en-IN" dirty="0"/>
              <a:t>Step 4: Waste Detection &amp; Classification</a:t>
            </a:r>
          </a:p>
          <a:p>
            <a:r>
              <a:rPr lang="en-IN" dirty="0"/>
              <a:t>Step 5: Reusability Score Calculation</a:t>
            </a:r>
          </a:p>
          <a:p>
            <a:r>
              <a:rPr lang="en-IN" dirty="0"/>
              <a:t> Step 6: Edge Deployment</a:t>
            </a:r>
          </a:p>
          <a:p>
            <a:r>
              <a:rPr lang="en-IN" dirty="0"/>
              <a:t> Step 7: Output &amp; Smart Sorting</a:t>
            </a:r>
          </a:p>
        </p:txBody>
      </p:sp>
      <p:sp>
        <p:nvSpPr>
          <p:cNvPr id="4" name="Slide Number Placeholder 3">
            <a:extLst>
              <a:ext uri="{FF2B5EF4-FFF2-40B4-BE49-F238E27FC236}">
                <a16:creationId xmlns:a16="http://schemas.microsoft.com/office/drawing/2014/main" id="{5AC0FAAD-0F5A-B37B-0D2D-D303B27BE7D8}"/>
              </a:ext>
            </a:extLst>
          </p:cNvPr>
          <p:cNvSpPr>
            <a:spLocks noGrp="1"/>
          </p:cNvSpPr>
          <p:nvPr>
            <p:ph type="sldNum" sz="quarter" idx="12"/>
          </p:nvPr>
        </p:nvSpPr>
        <p:spPr/>
        <p:txBody>
          <a:bodyPr/>
          <a:lstStyle/>
          <a:p>
            <a:pPr>
              <a:defRPr/>
            </a:pPr>
            <a:fld id="{7567225B-3001-4770-81AD-EA67E82D7225}" type="slidenum">
              <a:rPr lang="en-US" smtClean="0"/>
              <a:pPr>
                <a:defRPr/>
              </a:pPr>
              <a:t>12</a:t>
            </a:fld>
            <a:endParaRPr lang="en-US" dirty="0"/>
          </a:p>
        </p:txBody>
      </p:sp>
    </p:spTree>
    <p:extLst>
      <p:ext uri="{BB962C8B-B14F-4D97-AF65-F5344CB8AC3E}">
        <p14:creationId xmlns:p14="http://schemas.microsoft.com/office/powerpoint/2010/main" val="437475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IN" sz="5400" b="1" dirty="0"/>
          </a:p>
          <a:p>
            <a:pPr marL="0" indent="0" algn="ctr">
              <a:buNone/>
            </a:pPr>
            <a:r>
              <a:rPr lang="en-IN" sz="13800" b="1" dirty="0">
                <a:solidFill>
                  <a:srgbClr val="C00000"/>
                </a:solidFill>
              </a:rPr>
              <a:t>THANK YOU</a:t>
            </a:r>
          </a:p>
        </p:txBody>
      </p:sp>
      <p:sp>
        <p:nvSpPr>
          <p:cNvPr id="4" name="Slide Number Placeholder 3"/>
          <p:cNvSpPr>
            <a:spLocks noGrp="1"/>
          </p:cNvSpPr>
          <p:nvPr>
            <p:ph type="sldNum" sz="quarter" idx="12"/>
          </p:nvPr>
        </p:nvSpPr>
        <p:spPr/>
        <p:txBody>
          <a:bodyPr/>
          <a:lstStyle/>
          <a:p>
            <a:pPr>
              <a:defRPr/>
            </a:pPr>
            <a:fld id="{7567225B-3001-4770-81AD-EA67E82D7225}" type="slidenum">
              <a:rPr lang="en-US" smtClean="0"/>
              <a:pPr>
                <a:defRPr/>
              </a:pPr>
              <a:t>13</a:t>
            </a:fld>
            <a:endParaRPr lang="en-US" dirty="0"/>
          </a:p>
        </p:txBody>
      </p:sp>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TotalTime>
  <Words>1862</Words>
  <Application>Microsoft Office PowerPoint</Application>
  <PresentationFormat>Widescreen</PresentationFormat>
  <Paragraphs>144</Paragraphs>
  <Slides>13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SimSun</vt:lpstr>
      <vt:lpstr>Arial</vt:lpstr>
      <vt:lpstr>Calibri</vt:lpstr>
      <vt:lpstr>Calibri Light</vt:lpstr>
      <vt:lpstr>Museo 300</vt:lpstr>
      <vt:lpstr>Times New Roman</vt:lpstr>
      <vt:lpstr>1_Office Theme</vt:lpstr>
      <vt:lpstr>Office Theme</vt:lpstr>
      <vt:lpstr>PowerPoint Presentation</vt:lpstr>
      <vt:lpstr>Contents</vt:lpstr>
      <vt:lpstr>PROBLEMS IN SOCIETY </vt:lpstr>
      <vt:lpstr>Abstract</vt:lpstr>
      <vt:lpstr>Introduction</vt:lpstr>
      <vt:lpstr>Literature Survey (10 papers)</vt:lpstr>
      <vt:lpstr>PowerPoint Presentation</vt:lpstr>
      <vt:lpstr>PowerPoint Presentation</vt:lpstr>
      <vt:lpstr>PowerPoint Presentation</vt:lpstr>
      <vt:lpstr>PowerPoint Presentation</vt:lpstr>
      <vt:lpstr>Objectives </vt:lpstr>
      <vt:lpstr>Proposed methodology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infosys</dc:creator>
  <cp:lastModifiedBy>Rishi Kesh</cp:lastModifiedBy>
  <cp:revision>857</cp:revision>
  <cp:lastPrinted>2022-05-04T15:07:00Z</cp:lastPrinted>
  <dcterms:created xsi:type="dcterms:W3CDTF">2014-08-08T05:56:00Z</dcterms:created>
  <dcterms:modified xsi:type="dcterms:W3CDTF">2026-03-04T03:44:56Z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1033-12.2.0.13489</vt:lpwstr>
  </property>
  <property fmtid="{D5CDD505-2E9C-101B-9397-08002B2CF9AE}" pid="3" name="ICV">
    <vt:lpwstr>DEAC416AD0964813A5829ACCB829816D_13</vt:lpwstr>
  </property>
</Properties>
</file>